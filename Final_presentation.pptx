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261" r:id="rId7"/>
    <p:sldId id="262" r:id="rId8"/>
    <p:sldId id="264" r:id="rId9"/>
    <p:sldId id="263" r:id="rId10"/>
    <p:sldId id="266" r:id="rId11"/>
    <p:sldId id="310" r:id="rId12"/>
    <p:sldId id="269" r:id="rId13"/>
    <p:sldId id="270" r:id="rId14"/>
    <p:sldId id="285" r:id="rId15"/>
    <p:sldId id="272" r:id="rId16"/>
    <p:sldId id="291" r:id="rId17"/>
    <p:sldId id="298" r:id="rId18"/>
    <p:sldId id="290" r:id="rId19"/>
    <p:sldId id="306" r:id="rId20"/>
    <p:sldId id="307" r:id="rId21"/>
    <p:sldId id="322" r:id="rId22"/>
    <p:sldId id="324" r:id="rId23"/>
    <p:sldId id="328" r:id="rId24"/>
    <p:sldId id="323" r:id="rId25"/>
    <p:sldId id="284" r:id="rId26"/>
    <p:sldId id="29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20" autoAdjust="0"/>
    <p:restoredTop sz="94660"/>
  </p:normalViewPr>
  <p:slideViewPr>
    <p:cSldViewPr snapToGrid="0">
      <p:cViewPr varScale="1">
        <p:scale>
          <a:sx n="82" d="100"/>
          <a:sy n="82" d="100"/>
        </p:scale>
        <p:origin x="744"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1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1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ink/ink1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2-03-24T06:51:06"/>
    </inkml:context>
    <inkml:brush xml:id="br0">
      <inkml:brushProperty name="width" value="0.05" units="cm"/>
      <inkml:brushProperty name="height" value="0.05" units="cm"/>
      <inkml:brushProperty name="color" value="#000000"/>
    </inkml:brush>
  </inkml:definitions>
  <inkml:trace contextRef="#ctx0" brushRef="#br0">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FCAF5B-8586-4DE9-BDF9-FC9FAD58D3F4}"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6EBF80-CBE2-403D-AD0D-7E9572EB812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7" name="Google Shape;47;p1: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2: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2010400" y="5371925"/>
            <a:ext cx="16083275" cy="508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7" name="Google Shape;47;p1:notes"/>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95FC4BC-0BFE-4A97-A98C-36C931093CB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95FC4BC-0BFE-4A97-A98C-36C931093CB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95FC4BC-0BFE-4A97-A98C-36C931093CB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95FC4BC-0BFE-4A97-A98C-36C931093CB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95FC4BC-0BFE-4A97-A98C-36C931093CB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95FC4BC-0BFE-4A97-A98C-36C931093CB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5FC4BC-0BFE-4A97-A98C-36C931093CB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95FC4BC-0BFE-4A97-A98C-36C931093CB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95FC4BC-0BFE-4A97-A98C-36C931093CB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95FC4BC-0BFE-4A97-A98C-36C931093CB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95FC4BC-0BFE-4A97-A98C-36C931093CB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EE7E2-8FC3-458D-A4D9-D42AD3BF780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showMasterSp="0" matchingName="Blank">
  <p:cSld name="1_Blank">
    <p:spTree>
      <p:nvGrpSpPr>
        <p:cNvPr id="1" name="Shape 17"/>
        <p:cNvGrpSpPr/>
        <p:nvPr/>
      </p:nvGrpSpPr>
      <p:grpSpPr>
        <a:xfrm>
          <a:off x="0" y="0"/>
          <a:ext cx="0" cy="0"/>
          <a:chOff x="0" y="0"/>
          <a:chExt cx="0" cy="0"/>
        </a:xfrm>
      </p:grpSpPr>
      <p:sp>
        <p:nvSpPr>
          <p:cNvPr id="18" name="Google Shape;18;p2"/>
          <p:cNvSpPr txBox="1">
            <a:spLocks noGrp="1"/>
          </p:cNvSpPr>
          <p:nvPr>
            <p:ph type="ftr" idx="11"/>
          </p:nvPr>
        </p:nvSpPr>
        <p:spPr>
          <a:xfrm>
            <a:off x="4145511" y="6377632"/>
            <a:ext cx="3900978" cy="34367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a:spLocks noGrp="1"/>
          </p:cNvSpPr>
          <p:nvPr>
            <p:ph type="dt" idx="10"/>
          </p:nvPr>
        </p:nvSpPr>
        <p:spPr>
          <a:xfrm>
            <a:off x="609408" y="6377632"/>
            <a:ext cx="2804429" cy="34367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a:spLocks noGrp="1"/>
          </p:cNvSpPr>
          <p:nvPr>
            <p:ph type="sldNum" idx="12"/>
          </p:nvPr>
        </p:nvSpPr>
        <p:spPr>
          <a:xfrm>
            <a:off x="8778163" y="6377632"/>
            <a:ext cx="2804430" cy="343670"/>
          </a:xfrm>
          <a:prstGeom prst="rect">
            <a:avLst/>
          </a:prstGeom>
          <a:noFill/>
          <a:ln>
            <a:noFill/>
          </a:ln>
        </p:spPr>
        <p:txBody>
          <a:bodyPr spcFirstLastPara="1" wrap="square" lIns="0" tIns="0" rIns="0" bIns="0" anchor="t" anchorCtr="0">
            <a:noAutofit/>
          </a:bodyPr>
          <a:lstStyle>
            <a:lvl1pPr marL="0" marR="0" lvl="0"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and Content">
  <p:cSld name="1_Title and Conten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352359" y="247405"/>
            <a:ext cx="11487282" cy="293611"/>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400"/>
              <a:buNone/>
              <a:defRPr sz="1820" b="0" i="1">
                <a:solidFill>
                  <a:srgbClr val="422C75"/>
                </a:solidFill>
                <a:latin typeface="Playfair Display"/>
                <a:ea typeface="Playfair Display"/>
                <a:cs typeface="Playfair Display"/>
                <a:sym typeface="Playfair Displa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a:spLocks noGrp="1"/>
          </p:cNvSpPr>
          <p:nvPr>
            <p:ph type="body" idx="1"/>
          </p:nvPr>
        </p:nvSpPr>
        <p:spPr>
          <a:xfrm>
            <a:off x="1665521" y="1584541"/>
            <a:ext cx="8860958" cy="1377569"/>
          </a:xfrm>
          <a:prstGeom prst="rect">
            <a:avLst/>
          </a:prstGeom>
          <a:noFill/>
          <a:ln>
            <a:noFill/>
          </a:ln>
        </p:spPr>
        <p:txBody>
          <a:bodyPr spcFirstLastPara="1" wrap="square" lIns="0" tIns="0" rIns="0" bIns="0" anchor="t" anchorCtr="0">
            <a:noAutofit/>
          </a:bodyPr>
          <a:lstStyle>
            <a:lvl1pPr marL="277495" lvl="0" indent="-138430" algn="l">
              <a:spcBef>
                <a:spcPts val="220"/>
              </a:spcBef>
              <a:spcAft>
                <a:spcPts val="0"/>
              </a:spcAft>
              <a:buSzPts val="1400"/>
              <a:buNone/>
              <a:defRPr b="0" i="0">
                <a:solidFill>
                  <a:schemeClr val="dk1"/>
                </a:solidFill>
              </a:defRPr>
            </a:lvl1pPr>
            <a:lvl2pPr marL="554355" lvl="1" indent="-138430" algn="l">
              <a:spcBef>
                <a:spcPts val="220"/>
              </a:spcBef>
              <a:spcAft>
                <a:spcPts val="0"/>
              </a:spcAft>
              <a:buSzPts val="1400"/>
              <a:buNone/>
              <a:defRPr/>
            </a:lvl2pPr>
            <a:lvl3pPr marL="831850" lvl="2" indent="-138430" algn="l">
              <a:spcBef>
                <a:spcPts val="220"/>
              </a:spcBef>
              <a:spcAft>
                <a:spcPts val="0"/>
              </a:spcAft>
              <a:buSzPts val="1400"/>
              <a:buNone/>
              <a:defRPr/>
            </a:lvl3pPr>
            <a:lvl4pPr marL="1108710" lvl="3" indent="-138430" algn="l">
              <a:spcBef>
                <a:spcPts val="220"/>
              </a:spcBef>
              <a:spcAft>
                <a:spcPts val="0"/>
              </a:spcAft>
              <a:buSzPts val="1400"/>
              <a:buNone/>
              <a:defRPr/>
            </a:lvl4pPr>
            <a:lvl5pPr marL="1386205" lvl="4" indent="-138430" algn="l">
              <a:spcBef>
                <a:spcPts val="220"/>
              </a:spcBef>
              <a:spcAft>
                <a:spcPts val="0"/>
              </a:spcAft>
              <a:buSzPts val="1400"/>
              <a:buNone/>
              <a:defRPr/>
            </a:lvl5pPr>
            <a:lvl6pPr marL="1663700" lvl="5" indent="-138430" algn="l">
              <a:spcBef>
                <a:spcPts val="0"/>
              </a:spcBef>
              <a:spcAft>
                <a:spcPts val="0"/>
              </a:spcAft>
              <a:buSzPts val="1400"/>
              <a:buNone/>
              <a:defRPr/>
            </a:lvl6pPr>
            <a:lvl7pPr marL="1940560" lvl="6" indent="-138430" algn="l">
              <a:spcBef>
                <a:spcPts val="0"/>
              </a:spcBef>
              <a:spcAft>
                <a:spcPts val="0"/>
              </a:spcAft>
              <a:buSzPts val="1400"/>
              <a:buNone/>
              <a:defRPr/>
            </a:lvl7pPr>
            <a:lvl8pPr marL="2218055" lvl="7" indent="-138430" algn="l">
              <a:spcBef>
                <a:spcPts val="0"/>
              </a:spcBef>
              <a:spcAft>
                <a:spcPts val="0"/>
              </a:spcAft>
              <a:buSzPts val="1400"/>
              <a:buNone/>
              <a:defRPr/>
            </a:lvl8pPr>
            <a:lvl9pPr marL="2494915" lvl="8" indent="-138430" algn="l">
              <a:spcBef>
                <a:spcPts val="0"/>
              </a:spcBef>
              <a:spcAft>
                <a:spcPts val="0"/>
              </a:spcAft>
              <a:buSzPts val="1400"/>
              <a:buNone/>
              <a:defRPr/>
            </a:lvl9pPr>
          </a:lstStyle>
          <a:p/>
        </p:txBody>
      </p:sp>
      <p:sp>
        <p:nvSpPr>
          <p:cNvPr id="24" name="Google Shape;24;p3"/>
          <p:cNvSpPr txBox="1">
            <a:spLocks noGrp="1"/>
          </p:cNvSpPr>
          <p:nvPr>
            <p:ph type="ftr" idx="11"/>
          </p:nvPr>
        </p:nvSpPr>
        <p:spPr>
          <a:xfrm>
            <a:off x="4145511" y="6377632"/>
            <a:ext cx="3900978" cy="343670"/>
          </a:xfrm>
          <a:prstGeom prst="rect">
            <a:avLst/>
          </a:prstGeom>
          <a:noFill/>
          <a:ln>
            <a:noFill/>
          </a:ln>
        </p:spPr>
        <p:txBody>
          <a:bodyPr spcFirstLastPara="1" wrap="square" lIns="0" tIns="0" rIns="0" bIns="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a:spLocks noGrp="1"/>
          </p:cNvSpPr>
          <p:nvPr>
            <p:ph type="dt" idx="10"/>
          </p:nvPr>
        </p:nvSpPr>
        <p:spPr>
          <a:xfrm>
            <a:off x="609408" y="6377632"/>
            <a:ext cx="2804429" cy="343670"/>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a:spLocks noGrp="1"/>
          </p:cNvSpPr>
          <p:nvPr>
            <p:ph type="sldNum" idx="12"/>
          </p:nvPr>
        </p:nvSpPr>
        <p:spPr>
          <a:xfrm>
            <a:off x="8778163" y="6377632"/>
            <a:ext cx="2804430" cy="343670"/>
          </a:xfrm>
          <a:prstGeom prst="rect">
            <a:avLst/>
          </a:prstGeom>
          <a:noFill/>
          <a:ln>
            <a:noFill/>
          </a:ln>
        </p:spPr>
        <p:txBody>
          <a:bodyPr spcFirstLastPara="1" wrap="square" lIns="0" tIns="0" rIns="0" bIns="0" anchor="t" anchorCtr="0">
            <a:noAutofit/>
          </a:bodyPr>
          <a:lstStyle>
            <a:lvl1pPr marL="0" marR="0" lvl="0"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spcAft>
                <a:spcPts val="0"/>
              </a:spcAft>
              <a:buNone/>
              <a:defRPr>
                <a:solidFill>
                  <a:srgbClr val="898989"/>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5FC4BC-0BFE-4A97-A98C-36C931093CBB}"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5EE7E2-8FC3-458D-A4D9-D42AD3BF780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3.xml"/><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8.png"/><Relationship Id="rId7" Type="http://schemas.openxmlformats.org/officeDocument/2006/relationships/image" Target="../media/image7.jpeg"/><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image" Target="../media/image2.png"/><Relationship Id="rId2" Type="http://schemas.openxmlformats.org/officeDocument/2006/relationships/customXml" Target="../ink/ink3.xml"/><Relationship Id="rId10" Type="http://schemas.openxmlformats.org/officeDocument/2006/relationships/notesSlide" Target="../notesSlides/notesSlide4.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image" Target="../media/image9.jpeg"/><Relationship Id="rId3" Type="http://schemas.openxmlformats.org/officeDocument/2006/relationships/image" Target="../media/image2.png"/><Relationship Id="rId2" Type="http://schemas.openxmlformats.org/officeDocument/2006/relationships/customXml" Target="../ink/ink4.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customXml" Target="../ink/ink5.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customXml" Target="../ink/ink6.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customXml" Target="../ink/ink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customXml" Target="../ink/ink8.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customXml" Target="../ink/ink9.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3.xml"/><Relationship Id="rId4" Type="http://schemas.openxmlformats.org/officeDocument/2006/relationships/image" Target="../media/image10.jpeg"/><Relationship Id="rId3" Type="http://schemas.openxmlformats.org/officeDocument/2006/relationships/image" Target="../media/image2.png"/><Relationship Id="rId2" Type="http://schemas.openxmlformats.org/officeDocument/2006/relationships/customXml" Target="../ink/ink10.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3.xml"/><Relationship Id="rId4" Type="http://schemas.openxmlformats.org/officeDocument/2006/relationships/image" Target="../media/image11.png"/><Relationship Id="rId3" Type="http://schemas.openxmlformats.org/officeDocument/2006/relationships/image" Target="../media/image2.png"/><Relationship Id="rId2" Type="http://schemas.openxmlformats.org/officeDocument/2006/relationships/customXml" Target="../ink/ink1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1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12.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12.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12.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customXml" Target="../ink/ink1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7"/>
          <p:cNvSpPr/>
          <p:nvPr/>
        </p:nvSpPr>
        <p:spPr>
          <a:xfrm>
            <a:off x="-18373" y="-31372"/>
            <a:ext cx="12191145" cy="6858000"/>
          </a:xfrm>
          <a:prstGeom prst="rect">
            <a:avLst/>
          </a:prstGeom>
          <a:solidFill>
            <a:schemeClr val="lt1">
              <a:alpha val="98823"/>
            </a:schemeClr>
          </a:solidFill>
          <a:ln w="76200" cap="flat" cmpd="sng">
            <a:solidFill>
              <a:schemeClr val="accent1">
                <a:lumMod val="40000"/>
                <a:lumOff val="60000"/>
              </a:schemeClr>
            </a:solidFill>
            <a:prstDash val="solid"/>
            <a:round/>
            <a:headEnd type="none" w="sm" len="sm"/>
            <a:tailEnd type="none" w="sm" len="sm"/>
          </a:ln>
        </p:spPr>
        <p:txBody>
          <a:bodyPr spcFirstLastPara="1" wrap="square" lIns="55440" tIns="27713" rIns="55440" bIns="27713" anchor="ctr" anchorCtr="0">
            <a:noAutofit/>
          </a:bodyPr>
          <a:lstStyle/>
          <a:p>
            <a:pPr algn="ctr"/>
            <a:endParaRPr sz="1090" dirty="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0" name="Google Shape;50;p7"/>
          <p:cNvSpPr txBox="1"/>
          <p:nvPr/>
        </p:nvSpPr>
        <p:spPr>
          <a:xfrm>
            <a:off x="970689" y="2397972"/>
            <a:ext cx="10002111" cy="1520809"/>
          </a:xfrm>
          <a:prstGeom prst="rect">
            <a:avLst/>
          </a:prstGeom>
          <a:noFill/>
          <a:ln>
            <a:noFill/>
          </a:ln>
        </p:spPr>
        <p:txBody>
          <a:bodyPr spcFirstLastPara="1" wrap="square" lIns="0" tIns="6928" rIns="0" bIns="0" anchor="t" anchorCtr="0">
            <a:noAutofit/>
          </a:bodyPr>
          <a:lstStyle/>
          <a:p>
            <a:pPr marL="7620" algn="ctr"/>
            <a:r>
              <a:rPr lang="en-US" sz="4400"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rPr>
              <a:t>    </a:t>
            </a:r>
            <a:r>
              <a:rPr lang="en-IN" altLang="en-US" sz="4400"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rPr>
              <a:t>Mental Health Disorder</a:t>
            </a:r>
            <a:endParaRPr lang="en-IN" altLang="en-US" sz="4400"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endParaRPr>
          </a:p>
          <a:p>
            <a:pPr marL="7620" algn="ctr"/>
            <a:r>
              <a:rPr lang="en-IN" altLang="en-US" sz="4400"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rPr>
              <a:t> Classification</a:t>
            </a:r>
            <a:r>
              <a:rPr lang="en-US" sz="4400" dirty="0">
                <a:solidFill>
                  <a:schemeClr val="accent1"/>
                </a:solidFill>
                <a:latin typeface="Times New Roman" panose="02020603050405020304" pitchFamily="18" charset="0"/>
                <a:ea typeface="Microsoft Sans Serif" panose="020B0604020202020204" pitchFamily="34" charset="0"/>
                <a:cs typeface="Times New Roman" panose="02020603050405020304" pitchFamily="18" charset="0"/>
                <a:sym typeface="Playfair Display"/>
              </a:rPr>
              <a:t>.</a:t>
            </a:r>
            <a:r>
              <a:rPr lang="en-US" sz="4400" dirty="0">
                <a:solidFill>
                  <a:srgbClr val="005893"/>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rPr>
              <a:t>  </a:t>
            </a:r>
            <a:endParaRPr lang="en-US" sz="4400" dirty="0">
              <a:solidFill>
                <a:srgbClr val="FF0000"/>
              </a:solidFill>
            </a:endParaRPr>
          </a:p>
          <a:p>
            <a:pPr marL="7620" algn="ctr">
              <a:spcBef>
                <a:spcPts val="55"/>
              </a:spcBef>
            </a:pPr>
            <a:endParaRPr lang="en-US" sz="4400" dirty="0"/>
          </a:p>
        </p:txBody>
      </p:sp>
      <p:sp>
        <p:nvSpPr>
          <p:cNvPr id="51" name="Google Shape;51;p7"/>
          <p:cNvSpPr/>
          <p:nvPr/>
        </p:nvSpPr>
        <p:spPr>
          <a:xfrm>
            <a:off x="19228" y="-13104"/>
            <a:ext cx="5296784" cy="4431588"/>
          </a:xfrm>
          <a:custGeom>
            <a:avLst/>
            <a:gdLst/>
            <a:ahLst/>
            <a:cxnLst/>
            <a:rect l="l" t="t" r="r" b="b"/>
            <a:pathLst>
              <a:path w="7436484" h="5134610" extrusionOk="0">
                <a:moveTo>
                  <a:pt x="7435941" y="0"/>
                </a:moveTo>
                <a:lnTo>
                  <a:pt x="0" y="0"/>
                </a:lnTo>
                <a:lnTo>
                  <a:pt x="0" y="5134513"/>
                </a:lnTo>
                <a:lnTo>
                  <a:pt x="7435941" y="0"/>
                </a:lnTo>
                <a:close/>
              </a:path>
            </a:pathLst>
          </a:custGeom>
          <a:solidFill>
            <a:schemeClr val="accent1">
              <a:lumMod val="40000"/>
              <a:lumOff val="60000"/>
            </a:schemeClr>
          </a:solidFill>
          <a:ln>
            <a:solidFill>
              <a:schemeClr val="accent1"/>
            </a:solidFill>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5" name="Google Shape;55;p7"/>
          <p:cNvSpPr txBox="1"/>
          <p:nvPr/>
        </p:nvSpPr>
        <p:spPr>
          <a:xfrm>
            <a:off x="9144000" y="247405"/>
            <a:ext cx="2695238" cy="293611"/>
          </a:xfrm>
          <a:prstGeom prst="rect">
            <a:avLst/>
          </a:prstGeom>
          <a:noFill/>
          <a:ln>
            <a:noFill/>
          </a:ln>
        </p:spPr>
        <p:txBody>
          <a:bodyPr spcFirstLastPara="1" wrap="square" lIns="0" tIns="7701" rIns="0" bIns="0" anchor="t" anchorCtr="0">
            <a:noAutofit/>
          </a:bodyPr>
          <a:lstStyle/>
          <a:p>
            <a:pPr marL="7620"/>
            <a:r>
              <a:rPr lang="en-US" sz="1820" i="1" dirty="0">
                <a:solidFill>
                  <a:srgbClr val="422C75"/>
                </a:solidFill>
                <a:latin typeface="Playfair Display"/>
                <a:ea typeface="Playfair Display"/>
                <a:cs typeface="Playfair Display"/>
                <a:sym typeface="Playfair Display"/>
              </a:rPr>
              <a:t>FUTURE BEGINS HERE</a:t>
            </a:r>
            <a:endParaRPr sz="1820" dirty="0">
              <a:solidFill>
                <a:schemeClr val="dk1"/>
              </a:solidFill>
              <a:latin typeface="Playfair Display"/>
              <a:ea typeface="Playfair Display"/>
              <a:cs typeface="Playfair Display"/>
              <a:sym typeface="Playfair Display"/>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130" y="49128"/>
            <a:ext cx="3212242" cy="1132851"/>
          </a:xfrm>
          <a:prstGeom prst="rect">
            <a:avLst/>
          </a:prstGeom>
        </p:spPr>
      </p:pic>
      <p:sp>
        <p:nvSpPr>
          <p:cNvPr id="4" name="TextBox 3"/>
          <p:cNvSpPr txBox="1"/>
          <p:nvPr/>
        </p:nvSpPr>
        <p:spPr>
          <a:xfrm>
            <a:off x="1399591" y="4673109"/>
            <a:ext cx="9703837" cy="949960"/>
          </a:xfrm>
          <a:prstGeom prst="rect">
            <a:avLst/>
          </a:prstGeom>
          <a:noFill/>
        </p:spPr>
        <p:txBody>
          <a:bodyPr wrap="square" rtlCol="0">
            <a:spAutoFit/>
          </a:bodyPr>
          <a:lstStyle/>
          <a:p>
            <a:r>
              <a:rPr lang="en-IN" altLang="en-US" dirty="0">
                <a:latin typeface="Times New Roman" panose="02020603050405020304" pitchFamily="18" charset="0"/>
                <a:cs typeface="Times New Roman" panose="02020603050405020304" pitchFamily="18" charset="0"/>
              </a:rPr>
              <a:t>Present</a:t>
            </a:r>
            <a:r>
              <a:rPr lang="en-US" dirty="0">
                <a:latin typeface="Times New Roman" panose="02020603050405020304" pitchFamily="18" charset="0"/>
                <a:cs typeface="Times New Roman" panose="02020603050405020304" pitchFamily="18" charset="0"/>
              </a:rPr>
              <a:t>ed by:-                                                                                                    </a:t>
            </a:r>
            <a:r>
              <a:rPr lang="en-IN" altLang="en-US" dirty="0">
                <a:latin typeface="Times New Roman" panose="02020603050405020304" pitchFamily="18" charset="0"/>
                <a:cs typeface="Times New Roman" panose="02020603050405020304" pitchFamily="18" charset="0"/>
              </a:rPr>
              <a:t>Under the </a:t>
            </a:r>
            <a:r>
              <a:rPr lang="en-US" dirty="0">
                <a:latin typeface="Times New Roman" panose="02020603050405020304" pitchFamily="18" charset="0"/>
                <a:cs typeface="Times New Roman" panose="02020603050405020304" pitchFamily="18" charset="0"/>
              </a:rPr>
              <a:t>Guid</a:t>
            </a:r>
            <a:r>
              <a:rPr lang="en-IN" altLang="en-US" dirty="0">
                <a:latin typeface="Times New Roman" panose="02020603050405020304" pitchFamily="18" charset="0"/>
                <a:cs typeface="Times New Roman" panose="02020603050405020304" pitchFamily="18" charset="0"/>
              </a:rPr>
              <a:t>ance</a:t>
            </a:r>
            <a:r>
              <a:rPr 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of</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nSpc>
                <a:spcPct val="110000"/>
              </a:lnSpc>
            </a:pPr>
            <a:r>
              <a:rPr lang="en-IN" altLang="en-US" dirty="0">
                <a:latin typeface="Times New Roman" panose="02020603050405020304" pitchFamily="18" charset="0"/>
                <a:cs typeface="Times New Roman" panose="02020603050405020304" pitchFamily="18" charset="0"/>
              </a:rPr>
              <a:t>Sonika Thakur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202</a:t>
            </a:r>
            <a:r>
              <a:rPr lang="en-IN" altLang="en-US" dirty="0" err="1">
                <a:latin typeface="Times New Roman" panose="02020603050405020304" pitchFamily="18" charset="0"/>
                <a:cs typeface="Times New Roman" panose="02020603050405020304" pitchFamily="18" charset="0"/>
              </a:rPr>
              <a:t>2</a:t>
            </a:r>
            <a:r>
              <a:rPr lang="en-US" dirty="0" err="1">
                <a:latin typeface="Times New Roman" panose="02020603050405020304" pitchFamily="18" charset="0"/>
                <a:cs typeface="Times New Roman" panose="02020603050405020304" pitchFamily="18" charset="0"/>
              </a:rPr>
              <a:t>d1r0</a:t>
            </a:r>
            <a:r>
              <a:rPr lang="en-IN" altLang="en-US" dirty="0" err="1">
                <a:latin typeface="Times New Roman" panose="02020603050405020304" pitchFamily="18" charset="0"/>
                <a:cs typeface="Times New Roman" panose="02020603050405020304" pitchFamily="18" charset="0"/>
              </a:rPr>
              <a:t>07</a:t>
            </a:r>
            <a:r>
              <a:rPr lang="en-US">
                <a:latin typeface="Times New Roman" panose="02020603050405020304" pitchFamily="18" charset="0"/>
                <a:cs typeface="Times New Roman" panose="02020603050405020304" pitchFamily="18" charset="0"/>
              </a:rPr>
              <a:t>)                                                                                       Ms. Arti Kotru</a:t>
            </a:r>
            <a:endParaRPr lang="en-US">
              <a:latin typeface="Times New Roman" panose="02020603050405020304" pitchFamily="18" charset="0"/>
              <a:cs typeface="Times New Roman" panose="02020603050405020304" pitchFamily="18" charset="0"/>
            </a:endParaRPr>
          </a:p>
          <a:p>
            <a:r>
              <a:rPr lang="en-IN" altLang="en-US">
                <a:latin typeface="Times New Roman" panose="02020603050405020304" pitchFamily="18" charset="0"/>
                <a:cs typeface="Times New Roman" panose="02020603050405020304" pitchFamily="18" charset="0"/>
              </a:rPr>
              <a:t>Radhika</a:t>
            </a:r>
            <a:r>
              <a:rPr lang="en-US">
                <a:latin typeface="Times New Roman" panose="02020603050405020304" pitchFamily="18" charset="0"/>
                <a:cs typeface="Times New Roman" panose="02020603050405020304" pitchFamily="18" charset="0"/>
              </a:rPr>
              <a:t>(202</a:t>
            </a:r>
            <a:r>
              <a:rPr lang="en-IN" altLang="en-US">
                <a:latin typeface="Times New Roman" panose="02020603050405020304" pitchFamily="18" charset="0"/>
                <a:cs typeface="Times New Roman" panose="02020603050405020304" pitchFamily="18" charset="0"/>
              </a:rPr>
              <a:t>2</a:t>
            </a:r>
            <a:r>
              <a:rPr lang="en-US">
                <a:latin typeface="Times New Roman" panose="02020603050405020304" pitchFamily="18" charset="0"/>
                <a:cs typeface="Times New Roman" panose="02020603050405020304" pitchFamily="18" charset="0"/>
              </a:rPr>
              <a:t>d1r017)                                                                                      </a:t>
            </a:r>
            <a:r>
              <a:rPr lang="en-IN" altLang="en-US">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  (Associate Professor)  </a:t>
            </a:r>
            <a:endParaRPr lang="en-US">
              <a:latin typeface="Times New Roman" panose="02020603050405020304" pitchFamily="18" charset="0"/>
              <a:cs typeface="Times New Roman" panose="02020603050405020304" pitchFamily="18" charset="0"/>
            </a:endParaRPr>
          </a:p>
        </p:txBody>
      </p:sp>
      <p:sp>
        <p:nvSpPr>
          <p:cNvPr id="6" name="TextBox 5"/>
          <p:cNvSpPr txBox="1"/>
          <p:nvPr/>
        </p:nvSpPr>
        <p:spPr>
          <a:xfrm>
            <a:off x="1735883" y="4618654"/>
            <a:ext cx="7820923" cy="369332"/>
          </a:xfrm>
          <a:prstGeom prst="rect">
            <a:avLst/>
          </a:prstGeom>
          <a:noFill/>
        </p:spPr>
        <p:txBody>
          <a:bodyPr wrap="square" rtlCol="0">
            <a:spAutoFit/>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
                                            <p:txEl>
                                              <p:pRg st="0" end="0"/>
                                            </p:txEl>
                                          </p:spTgt>
                                        </p:tgtEl>
                                        <p:attrNameLst>
                                          <p:attrName>style.visibility</p:attrName>
                                        </p:attrNameLst>
                                      </p:cBhvr>
                                      <p:to>
                                        <p:strVal val="visible"/>
                                      </p:to>
                                    </p:set>
                                    <p:animEffect transition="in" filter="blinds(horizontal)">
                                      <p:cBhvr>
                                        <p:cTn id="12" dur="500"/>
                                        <p:tgtEl>
                                          <p:spTgt spid="5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blinds(horizontal)">
                                      <p:cBhvr>
                                        <p:cTn id="2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0" grpId="0"/>
      <p:bldP spid="50"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399415" y="1054735"/>
            <a:ext cx="11600815" cy="5814695"/>
          </a:xfrm>
          <a:prstGeom prst="rect">
            <a:avLst/>
          </a:prstGeom>
          <a:noFill/>
          <a:ln>
            <a:noFill/>
          </a:ln>
        </p:spPr>
        <p:txBody>
          <a:bodyPr spcFirstLastPara="1" wrap="square" lIns="0" tIns="7307" rIns="0" bIns="0" anchor="t" anchorCtr="0">
            <a:noAutofit/>
          </a:bodyPr>
          <a:lstStyle/>
          <a:p>
            <a:pPr marL="521970" indent="-514350" algn="just">
              <a:lnSpc>
                <a:spcPct val="121000"/>
              </a:lnSpc>
              <a:spcBef>
                <a:spcPts val="60"/>
              </a:spcBef>
              <a:buFont typeface="Wingdings" panose="05000000000000000000" charset="0"/>
              <a:buChar char="Ø"/>
            </a:pP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Technology and Libraries Used</a:t>
            </a:r>
            <a:endPar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521970" indent="-514350" algn="just">
              <a:lnSpc>
                <a:spcPct val="121000"/>
              </a:lnSpc>
              <a:spcBef>
                <a:spcPts val="60"/>
              </a:spcBef>
              <a:buFont typeface="Wingdings" panose="05000000000000000000" charset="0"/>
              <a:buChar char="Ø"/>
            </a:pP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Project Introduction</a:t>
            </a:r>
            <a:endPar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521970" indent="-514350" algn="just">
              <a:lnSpc>
                <a:spcPct val="121000"/>
              </a:lnSpc>
              <a:spcBef>
                <a:spcPts val="60"/>
              </a:spcBef>
              <a:buFont typeface="Wingdings" panose="05000000000000000000" charset="0"/>
              <a:buChar char="Ø"/>
            </a:pP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a:t>
            </a: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dvantages and disadvantge of the Current System</a:t>
            </a:r>
            <a:endPar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521970" indent="-514350" algn="just">
              <a:lnSpc>
                <a:spcPct val="121000"/>
              </a:lnSpc>
              <a:spcBef>
                <a:spcPts val="60"/>
              </a:spcBef>
              <a:buFont typeface="Wingdings" panose="05000000000000000000" charset="0"/>
              <a:buChar char="Ø"/>
            </a:pP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Project Descriptions</a:t>
            </a:r>
            <a:endPar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521970" indent="-514350" algn="just">
              <a:lnSpc>
                <a:spcPct val="121000"/>
              </a:lnSpc>
              <a:spcBef>
                <a:spcPts val="60"/>
              </a:spcBef>
              <a:buFont typeface="Wingdings" panose="05000000000000000000" charset="0"/>
              <a:buChar char="Ø"/>
            </a:pP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Working</a:t>
            </a:r>
            <a:endPar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521970" indent="-514350" algn="just">
              <a:lnSpc>
                <a:spcPct val="121000"/>
              </a:lnSpc>
              <a:spcBef>
                <a:spcPts val="60"/>
              </a:spcBef>
              <a:buFont typeface="Wingdings" panose="05000000000000000000" charset="0"/>
              <a:buChar char="Ø"/>
            </a:pP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Flowchart</a:t>
            </a: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endPar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521970" indent="-514350" algn="just">
              <a:lnSpc>
                <a:spcPct val="121000"/>
              </a:lnSpc>
              <a:spcBef>
                <a:spcPts val="60"/>
              </a:spcBef>
              <a:buFont typeface="Wingdings" panose="05000000000000000000" charset="0"/>
              <a:buChar char="Ø"/>
            </a:pP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Data</a:t>
            </a: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set</a:t>
            </a: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Used </a:t>
            </a:r>
            <a:endPar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521970" indent="-514350" algn="just">
              <a:lnSpc>
                <a:spcPct val="121000"/>
              </a:lnSpc>
              <a:spcBef>
                <a:spcPts val="60"/>
              </a:spcBef>
              <a:buFont typeface="Wingdings" panose="05000000000000000000" charset="0"/>
              <a:buChar char="Ø"/>
            </a:pP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After Cleaning Dataset</a:t>
            </a:r>
            <a:endPar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521970" indent="-514350" algn="just">
              <a:lnSpc>
                <a:spcPct val="121000"/>
              </a:lnSpc>
              <a:spcBef>
                <a:spcPts val="60"/>
              </a:spcBef>
              <a:buFont typeface="Wingdings" panose="05000000000000000000" charset="0"/>
              <a:buChar char="Ø"/>
            </a:pPr>
            <a:r>
              <a:rPr lang="en-IN" altLang="en-US" sz="2000">
                <a:solidFill>
                  <a:schemeClr val="tx1"/>
                </a:solidFill>
                <a:effectLst/>
                <a:latin typeface="Times New Roman" panose="02020603050405020304" pitchFamily="18" charset="0"/>
                <a:cs typeface="Times New Roman" panose="02020603050405020304" pitchFamily="18" charset="0"/>
                <a:sym typeface="+mn-ea"/>
              </a:rPr>
              <a:t>  Exploratory Data Analysis</a:t>
            </a:r>
            <a:endParaRPr lang="en-IN" altLang="en-US" sz="2000">
              <a:solidFill>
                <a:schemeClr val="tx1"/>
              </a:solidFill>
              <a:effectLst/>
              <a:latin typeface="Times New Roman" panose="02020603050405020304" pitchFamily="18" charset="0"/>
              <a:cs typeface="Times New Roman" panose="02020603050405020304" pitchFamily="18" charset="0"/>
              <a:sym typeface="+mn-ea"/>
            </a:endParaRPr>
          </a:p>
          <a:p>
            <a:pPr marL="521970" indent="-514350" algn="just">
              <a:lnSpc>
                <a:spcPct val="121000"/>
              </a:lnSpc>
              <a:spcBef>
                <a:spcPts val="60"/>
              </a:spcBef>
              <a:buFont typeface="Wingdings" panose="05000000000000000000" charset="0"/>
              <a:buChar char="Ø"/>
            </a:pPr>
            <a:r>
              <a:rPr lang="en-IN" altLang="en-US" sz="2000">
                <a:solidFill>
                  <a:schemeClr val="tx1"/>
                </a:solidFill>
                <a:effectLst/>
                <a:latin typeface="Times New Roman" panose="02020603050405020304" pitchFamily="18" charset="0"/>
                <a:cs typeface="Times New Roman" panose="02020603050405020304" pitchFamily="18" charset="0"/>
                <a:sym typeface="+mn-ea"/>
              </a:rPr>
              <a:t>  Result and comparison</a:t>
            </a:r>
            <a:endParaRPr lang="en-IN" altLang="en-US" sz="2000">
              <a:solidFill>
                <a:schemeClr val="tx1"/>
              </a:solidFill>
              <a:effectLst/>
              <a:latin typeface="Times New Roman" panose="02020603050405020304" pitchFamily="18" charset="0"/>
              <a:cs typeface="Times New Roman" panose="02020603050405020304" pitchFamily="18" charset="0"/>
              <a:sym typeface="+mn-ea"/>
            </a:endParaRPr>
          </a:p>
          <a:p>
            <a:pPr marL="521970" indent="-514350" algn="just">
              <a:lnSpc>
                <a:spcPct val="121000"/>
              </a:lnSpc>
              <a:spcBef>
                <a:spcPts val="60"/>
              </a:spcBef>
              <a:buFont typeface="Wingdings" panose="05000000000000000000" charset="0"/>
              <a:buChar char="Ø"/>
            </a:pPr>
            <a:r>
              <a:rPr lang="en-IN" altLang="en-US" sz="2000">
                <a:solidFill>
                  <a:schemeClr val="tx1"/>
                </a:solidFill>
                <a:effectLst/>
                <a:latin typeface="Times New Roman" panose="02020603050405020304" pitchFamily="18" charset="0"/>
                <a:cs typeface="Times New Roman" panose="02020603050405020304" pitchFamily="18" charset="0"/>
                <a:sym typeface="+mn-ea"/>
              </a:rPr>
              <a:t>  Proposed methodology</a:t>
            </a:r>
            <a:r>
              <a:rPr lang="en-US" altLang="en-IN" sz="2000">
                <a:solidFill>
                  <a:schemeClr val="tx1"/>
                </a:solidFill>
                <a:effectLst/>
                <a:latin typeface="Times New Roman" panose="02020603050405020304" pitchFamily="18" charset="0"/>
                <a:cs typeface="Times New Roman" panose="02020603050405020304" pitchFamily="18" charset="0"/>
                <a:sym typeface="+mn-ea"/>
              </a:rPr>
              <a:t> and performance</a:t>
            </a:r>
            <a:endParaRPr lang="en-US" altLang="en-IN" sz="2000">
              <a:solidFill>
                <a:schemeClr val="tx1"/>
              </a:solidFill>
              <a:effectLst/>
              <a:latin typeface="Times New Roman" panose="02020603050405020304" pitchFamily="18" charset="0"/>
              <a:cs typeface="Times New Roman" panose="02020603050405020304" pitchFamily="18" charset="0"/>
              <a:sym typeface="+mn-ea"/>
            </a:endParaRPr>
          </a:p>
          <a:p>
            <a:pPr marL="521970" indent="-514350" algn="just">
              <a:lnSpc>
                <a:spcPct val="121000"/>
              </a:lnSpc>
              <a:spcBef>
                <a:spcPts val="60"/>
              </a:spcBef>
              <a:buFont typeface="Wingdings" panose="05000000000000000000" charset="0"/>
              <a:buChar char="Ø"/>
            </a:pPr>
            <a:r>
              <a:rPr lang="en-US" altLang="en-IN" sz="2000">
                <a:solidFill>
                  <a:schemeClr val="tx1"/>
                </a:solidFill>
                <a:effectLst/>
                <a:latin typeface="Times New Roman" panose="02020603050405020304" pitchFamily="18" charset="0"/>
                <a:cs typeface="Times New Roman" panose="02020603050405020304" pitchFamily="18" charset="0"/>
                <a:sym typeface="+mn-ea"/>
              </a:rPr>
              <a:t>  Deployed model</a:t>
            </a:r>
            <a:endParaRPr lang="en-US" altLang="en-IN" sz="2000">
              <a:solidFill>
                <a:schemeClr val="tx1"/>
              </a:solidFill>
              <a:effectLst/>
              <a:latin typeface="Times New Roman" panose="02020603050405020304" pitchFamily="18" charset="0"/>
              <a:cs typeface="Times New Roman" panose="02020603050405020304" pitchFamily="18" charset="0"/>
              <a:sym typeface="+mn-ea"/>
            </a:endParaRPr>
          </a:p>
          <a:p>
            <a:pPr marL="521970" indent="-514350" algn="just">
              <a:lnSpc>
                <a:spcPct val="121000"/>
              </a:lnSpc>
              <a:spcBef>
                <a:spcPts val="60"/>
              </a:spcBef>
              <a:buFont typeface="Wingdings" panose="05000000000000000000" charset="0"/>
              <a:buChar char="Ø"/>
            </a:pPr>
            <a:r>
              <a:rPr lang="en-US" altLang="en-IN" sz="2000">
                <a:solidFill>
                  <a:schemeClr val="tx1"/>
                </a:solidFill>
                <a:effectLst/>
                <a:latin typeface="Times New Roman" panose="02020603050405020304" pitchFamily="18" charset="0"/>
                <a:cs typeface="Times New Roman" panose="02020603050405020304" pitchFamily="18" charset="0"/>
                <a:sym typeface="+mn-ea"/>
              </a:rPr>
              <a:t>  Future scope</a:t>
            </a:r>
            <a:endParaRPr lang="en-IN" altLang="en-US" sz="2000">
              <a:solidFill>
                <a:schemeClr val="tx1"/>
              </a:solidFill>
              <a:effectLst/>
              <a:latin typeface="Times New Roman" panose="02020603050405020304" pitchFamily="18" charset="0"/>
              <a:cs typeface="Times New Roman" panose="02020603050405020304" pitchFamily="18" charset="0"/>
              <a:sym typeface="+mn-ea"/>
            </a:endParaRPr>
          </a:p>
          <a:p>
            <a:pPr marL="521970" indent="-514350" algn="just">
              <a:lnSpc>
                <a:spcPct val="121000"/>
              </a:lnSpc>
              <a:spcBef>
                <a:spcPts val="60"/>
              </a:spcBef>
              <a:buFont typeface="Wingdings" panose="05000000000000000000" charset="0"/>
              <a:buChar char="Ø"/>
            </a:pP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IN" alt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 </a:t>
            </a:r>
            <a:r>
              <a:rPr lang="en-US" sz="2000">
                <a:latin typeface="Times New Roman" panose="02020603050405020304" pitchFamily="18" charset="0"/>
                <a:ea typeface="Microsoft Sans Serif" panose="020B0604020202020204" pitchFamily="34" charset="0"/>
                <a:cs typeface="Times New Roman" panose="02020603050405020304" pitchFamily="18" charset="0"/>
                <a:sym typeface="Helvetica Neue"/>
              </a:rPr>
              <a:t>Bibliography</a:t>
            </a:r>
            <a:endParaRPr sz="2000">
              <a:latin typeface="Times New Roman" panose="02020603050405020304" pitchFamily="18" charset="0"/>
              <a:ea typeface="Microsoft Sans Serif" panose="020B0604020202020204" pitchFamily="34" charset="0"/>
              <a:cs typeface="Times New Roman" panose="02020603050405020304" pitchFamily="18" charset="0"/>
            </a:endParaRPr>
          </a:p>
          <a:p>
            <a:pPr marL="7620">
              <a:lnSpc>
                <a:spcPct val="101000"/>
              </a:lnSpc>
              <a:spcBef>
                <a:spcPts val="60"/>
              </a:spcBef>
            </a:pPr>
            <a:endParaRPr sz="2000">
              <a:solidFill>
                <a:srgbClr val="6D6E71"/>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p:txBody>
      </p:sp>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a:solidFill>
                  <a:srgbClr val="231F20"/>
                </a:solidFill>
                <a:latin typeface="Helvetica Neue"/>
                <a:ea typeface="Helvetica Neue"/>
                <a:cs typeface="Helvetica Neue"/>
                <a:sym typeface="Helvetica Neue"/>
              </a:rPr>
              <a:t> </a:t>
            </a:r>
            <a:endParaRPr sz="970" b="1">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a:solidFill>
                  <a:schemeClr val="accent1">
                    <a:lumMod val="7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INDEX</a:t>
            </a:r>
            <a:endParaRPr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a:t>FUTURE BEGINS HERE</a:t>
            </a:r>
            <a:endParaRPr 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linds(horizontal)">
                                      <p:cBhvr>
                                        <p:cTn id="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1"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267335" y="874395"/>
            <a:ext cx="11600815" cy="5895975"/>
          </a:xfrm>
          <a:prstGeom prst="rect">
            <a:avLst/>
          </a:prstGeom>
          <a:noFill/>
          <a:ln>
            <a:noFill/>
          </a:ln>
        </p:spPr>
        <p:txBody>
          <a:bodyPr spcFirstLastPara="1" wrap="square" lIns="0" tIns="7307" rIns="0" bIns="0" anchor="t" anchorCtr="0">
            <a:noAutofit/>
          </a:bodyPr>
          <a:lstStyle/>
          <a:p>
            <a:pPr marL="7620" algn="just">
              <a:lnSpc>
                <a:spcPct val="101000"/>
              </a:lnSpc>
              <a:spcBef>
                <a:spcPts val="60"/>
              </a:spcBef>
            </a:pPr>
            <a:endParaRPr lang="en-US" sz="1700">
              <a:latin typeface="Times New Roman" panose="02020603050405020304" pitchFamily="18" charset="0"/>
              <a:ea typeface="Helvetica Neue"/>
              <a:cs typeface="Times New Roman" panose="02020603050405020304" pitchFamily="18" charset="0"/>
              <a:sym typeface="Helvetica Neue"/>
            </a:endParaRPr>
          </a:p>
          <a:p>
            <a:pPr marL="7620" algn="just">
              <a:lnSpc>
                <a:spcPct val="101000"/>
              </a:lnSpc>
              <a:spcBef>
                <a:spcPts val="60"/>
              </a:spcBef>
            </a:pPr>
            <a:r>
              <a:rPr lang="en-US" sz="1700">
                <a:latin typeface="Times New Roman" panose="02020603050405020304" pitchFamily="18" charset="0"/>
                <a:ea typeface="Helvetica Neue"/>
                <a:cs typeface="Times New Roman" panose="02020603050405020304" pitchFamily="18" charset="0"/>
                <a:sym typeface="Helvetica Neue"/>
              </a:rPr>
              <a:t>The </a:t>
            </a:r>
            <a:r>
              <a:rPr lang="en-IN" altLang="en-US" sz="1700">
                <a:latin typeface="Times New Roman" panose="02020603050405020304" pitchFamily="18" charset="0"/>
                <a:ea typeface="Helvetica Neue"/>
                <a:cs typeface="Times New Roman" panose="02020603050405020304" pitchFamily="18" charset="0"/>
                <a:sym typeface="Helvetica Neue"/>
              </a:rPr>
              <a:t>Mental Health disorder classify</a:t>
            </a:r>
            <a:r>
              <a:rPr lang="en-US" sz="1700">
                <a:latin typeface="Times New Roman" panose="02020603050405020304" pitchFamily="18" charset="0"/>
                <a:ea typeface="Helvetica Neue"/>
                <a:cs typeface="Times New Roman" panose="02020603050405020304" pitchFamily="18" charset="0"/>
                <a:sym typeface="Helvetica Neue"/>
              </a:rPr>
              <a:t> machine learning project is a project that aims to classify the</a:t>
            </a:r>
            <a:r>
              <a:rPr lang="en-IN" altLang="en-US" sz="1700">
                <a:latin typeface="Times New Roman" panose="02020603050405020304" pitchFamily="18" charset="0"/>
                <a:ea typeface="Helvetica Neue"/>
                <a:cs typeface="Times New Roman" panose="02020603050405020304" pitchFamily="18" charset="0"/>
                <a:sym typeface="Helvetica Neue"/>
              </a:rPr>
              <a:t> mental health</a:t>
            </a:r>
            <a:r>
              <a:rPr lang="en-US" sz="1700">
                <a:latin typeface="Times New Roman" panose="02020603050405020304" pitchFamily="18" charset="0"/>
                <a:ea typeface="Helvetica Neue"/>
                <a:cs typeface="Times New Roman" panose="02020603050405020304" pitchFamily="18" charset="0"/>
                <a:sym typeface="Helvetica Neue"/>
              </a:rPr>
              <a:t> </a:t>
            </a:r>
            <a:r>
              <a:rPr lang="en-IN" altLang="en-US" sz="1700">
                <a:latin typeface="Times New Roman" panose="02020603050405020304" pitchFamily="18" charset="0"/>
                <a:ea typeface="Helvetica Neue"/>
                <a:cs typeface="Times New Roman" panose="02020603050405020304" pitchFamily="18" charset="0"/>
                <a:sym typeface="Helvetica Neue"/>
              </a:rPr>
              <a:t>disease</a:t>
            </a:r>
            <a:r>
              <a:rPr lang="en-US" sz="1700">
                <a:latin typeface="Times New Roman" panose="02020603050405020304" pitchFamily="18" charset="0"/>
                <a:ea typeface="Helvetica Neue"/>
                <a:cs typeface="Times New Roman" panose="02020603050405020304" pitchFamily="18" charset="0"/>
                <a:sym typeface="Helvetica Neue"/>
              </a:rPr>
              <a:t> based on  their </a:t>
            </a:r>
            <a:r>
              <a:rPr lang="en-IN" altLang="en-US" sz="1700">
                <a:latin typeface="Times New Roman" panose="02020603050405020304" pitchFamily="18" charset="0"/>
                <a:ea typeface="Helvetica Neue"/>
                <a:cs typeface="Times New Roman" panose="02020603050405020304" pitchFamily="18" charset="0"/>
                <a:sym typeface="Helvetica Neue"/>
              </a:rPr>
              <a:t>symptoms</a:t>
            </a:r>
            <a:r>
              <a:rPr lang="en-US" sz="1700">
                <a:latin typeface="Times New Roman" panose="02020603050405020304" pitchFamily="18" charset="0"/>
                <a:ea typeface="Helvetica Neue"/>
                <a:cs typeface="Times New Roman" panose="02020603050405020304" pitchFamily="18" charset="0"/>
                <a:sym typeface="Helvetica Neue"/>
              </a:rPr>
              <a:t>. </a:t>
            </a:r>
            <a:endParaRPr lang="en-US" sz="1700">
              <a:latin typeface="Times New Roman" panose="02020603050405020304" pitchFamily="18" charset="0"/>
              <a:ea typeface="Helvetica Neue"/>
              <a:cs typeface="Times New Roman" panose="02020603050405020304" pitchFamily="18" charset="0"/>
              <a:sym typeface="Helvetica Neue"/>
            </a:endParaRPr>
          </a:p>
          <a:p>
            <a:pPr marL="7620" algn="just">
              <a:lnSpc>
                <a:spcPct val="101000"/>
              </a:lnSpc>
              <a:spcBef>
                <a:spcPts val="60"/>
              </a:spcBef>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endParaRPr lang="en-US" sz="1700">
              <a:solidFill>
                <a:srgbClr val="FF0000"/>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r>
              <a:rPr lang="en-IN" alt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Machine learning</a:t>
            </a:r>
            <a:r>
              <a:rPr lang="en-US" sz="1700">
                <a:solidFill>
                  <a:srgbClr val="FF0000"/>
                </a:solidFill>
                <a:latin typeface="Times New Roman" panose="02020603050405020304" pitchFamily="18" charset="0"/>
                <a:ea typeface="Helvetica Neue"/>
                <a:cs typeface="Times New Roman" panose="02020603050405020304" pitchFamily="18" charset="0"/>
                <a:sym typeface="Helvetica Neue"/>
              </a:rPr>
              <a:t>: </a:t>
            </a:r>
            <a:r>
              <a:rPr lang="en-US" sz="1700">
                <a:latin typeface="Times New Roman" panose="02020603050405020304" pitchFamily="18" charset="0"/>
                <a:ea typeface="Helvetica Neue"/>
                <a:cs typeface="Times New Roman" panose="02020603050405020304" pitchFamily="18" charset="0"/>
                <a:sym typeface="Helvetica Neue"/>
              </a:rPr>
              <a:t>This field of study focuses on enabling machines to interpret and analyze visual data.</a:t>
            </a:r>
            <a:r>
              <a:rPr lang="en-IN" altLang="en-US" sz="1700">
                <a:latin typeface="Times New Roman" panose="02020603050405020304" pitchFamily="18" charset="0"/>
                <a:ea typeface="Helvetica Neue"/>
                <a:cs typeface="Times New Roman" panose="02020603050405020304" pitchFamily="18" charset="0"/>
                <a:sym typeface="Helvetica Neue"/>
              </a:rPr>
              <a:t> </a:t>
            </a:r>
            <a:r>
              <a:rPr lang="en-US" sz="1700">
                <a:latin typeface="Times New Roman" panose="02020603050405020304" pitchFamily="18" charset="0"/>
                <a:ea typeface="Helvetica Neue"/>
                <a:cs typeface="Times New Roman" panose="02020603050405020304" pitchFamily="18" charset="0"/>
                <a:sym typeface="Helvetica Neue"/>
              </a:rPr>
              <a:t>In the project,machine learning is utilized to analyze vast datasets of patient information, including demographics, symptoms, and treatment outcomes.</a:t>
            </a: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r>
              <a:rPr lang="en-IN" alt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One-Hot encoder</a:t>
            </a:r>
            <a:r>
              <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a:t>
            </a:r>
            <a:r>
              <a:rPr lang="en-US" sz="1700">
                <a:solidFill>
                  <a:srgbClr val="FF0000"/>
                </a:solidFill>
                <a:latin typeface="Times New Roman" panose="02020603050405020304" pitchFamily="18" charset="0"/>
                <a:ea typeface="Helvetica Neue"/>
                <a:cs typeface="Times New Roman" panose="02020603050405020304" pitchFamily="18" charset="0"/>
                <a:sym typeface="Helvetica Neue"/>
              </a:rPr>
              <a:t> </a:t>
            </a:r>
            <a:r>
              <a:rPr lang="en-IN" altLang="en-US" sz="1700">
                <a:solidFill>
                  <a:schemeClr val="tx1"/>
                </a:solidFill>
                <a:latin typeface="Times New Roman" panose="02020603050405020304" pitchFamily="18" charset="0"/>
                <a:ea typeface="Helvetica Neue"/>
                <a:cs typeface="Times New Roman" panose="02020603050405020304" pitchFamily="18" charset="0"/>
                <a:sym typeface="Helvetica Neue"/>
              </a:rPr>
              <a:t>This</a:t>
            </a:r>
            <a:r>
              <a:rPr lang="en-US" sz="1700">
                <a:solidFill>
                  <a:schemeClr val="tx1"/>
                </a:solidFill>
                <a:latin typeface="Times New Roman" panose="02020603050405020304" pitchFamily="18" charset="0"/>
                <a:ea typeface="Helvetica Neue"/>
                <a:cs typeface="Times New Roman" panose="02020603050405020304" pitchFamily="18" charset="0"/>
                <a:sym typeface="Helvetica Neue"/>
              </a:rPr>
              <a:t> </a:t>
            </a:r>
            <a:r>
              <a:rPr lang="en-US" sz="1700">
                <a:latin typeface="Times New Roman" panose="02020603050405020304" pitchFamily="18" charset="0"/>
                <a:ea typeface="Helvetica Neue"/>
                <a:cs typeface="Times New Roman" panose="02020603050405020304" pitchFamily="18" charset="0"/>
                <a:sym typeface="Helvetica Neue"/>
              </a:rPr>
              <a:t>is a technique used in machine learning and data preprocessing to represent categorical variables as binary vectors</a:t>
            </a:r>
            <a:r>
              <a:rPr lang="en-IN" altLang="en-US" sz="1700">
                <a:latin typeface="Times New Roman" panose="02020603050405020304" pitchFamily="18" charset="0"/>
                <a:ea typeface="Helvetica Neue"/>
                <a:cs typeface="Times New Roman" panose="02020603050405020304" pitchFamily="18" charset="0"/>
                <a:sym typeface="Helvetica Neue"/>
              </a:rPr>
              <a:t>.</a:t>
            </a:r>
            <a:endParaRPr lang="en-IN" alt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endParaRPr lang="en-IN" alt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21000"/>
              </a:lnSpc>
              <a:spcBef>
                <a:spcPts val="60"/>
              </a:spcBef>
              <a:buAutoNum type="arabicPeriod"/>
            </a:pPr>
            <a:r>
              <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Python programming language:</a:t>
            </a:r>
            <a:r>
              <a:rPr lang="en-US" sz="1700">
                <a:solidFill>
                  <a:srgbClr val="FF0000"/>
                </a:solidFill>
                <a:latin typeface="Times New Roman" panose="02020603050405020304" pitchFamily="18" charset="0"/>
                <a:ea typeface="Helvetica Neue"/>
                <a:cs typeface="Times New Roman" panose="02020603050405020304" pitchFamily="18" charset="0"/>
                <a:sym typeface="Helvetica Neue"/>
              </a:rPr>
              <a:t> </a:t>
            </a:r>
            <a:r>
              <a:rPr lang="en-US" sz="1700">
                <a:latin typeface="Times New Roman" panose="02020603050405020304" pitchFamily="18" charset="0"/>
                <a:ea typeface="Helvetica Neue"/>
                <a:cs typeface="Times New Roman" panose="02020603050405020304" pitchFamily="18" charset="0"/>
                <a:sym typeface="Helvetica Neue"/>
              </a:rPr>
              <a:t>Python is a popular programming language in the field of machine learning, and is used extensively in the project for tasks such as data preprocessing, model training, and</a:t>
            </a:r>
            <a:r>
              <a:rPr lang="en-IN" altLang="en-US" sz="1700">
                <a:latin typeface="Times New Roman" panose="02020603050405020304" pitchFamily="18" charset="0"/>
                <a:ea typeface="Helvetica Neue"/>
                <a:cs typeface="Times New Roman" panose="02020603050405020304" pitchFamily="18" charset="0"/>
                <a:sym typeface="Helvetica Neue"/>
              </a:rPr>
              <a:t> </a:t>
            </a:r>
            <a:r>
              <a:rPr lang="en-IN" altLang="en-US" sz="1700">
                <a:latin typeface="Times New Roman" panose="02020603050405020304" pitchFamily="18" charset="0"/>
                <a:ea typeface="Helvetica Neue"/>
                <a:cs typeface="Times New Roman" panose="02020603050405020304" pitchFamily="18" charset="0"/>
                <a:sym typeface="Helvetica Neue"/>
              </a:rPr>
              <a:t> </a:t>
            </a:r>
            <a:r>
              <a:rPr lang="en-US" sz="1700">
                <a:latin typeface="Times New Roman" panose="02020603050405020304" pitchFamily="18" charset="0"/>
                <a:ea typeface="Helvetica Neue"/>
                <a:cs typeface="Times New Roman" panose="02020603050405020304" pitchFamily="18" charset="0"/>
                <a:sym typeface="Helvetica Neue"/>
              </a:rPr>
              <a:t>evaluation</a:t>
            </a:r>
            <a:r>
              <a:rPr lang="en-IN" altLang="en-US" sz="1700">
                <a:latin typeface="Times New Roman" panose="02020603050405020304" pitchFamily="18" charset="0"/>
                <a:ea typeface="Helvetica Neue"/>
                <a:cs typeface="Times New Roman" panose="02020603050405020304" pitchFamily="18" charset="0"/>
                <a:sym typeface="Helvetica Neue"/>
              </a:rPr>
              <a:t>.</a:t>
            </a: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endParaRPr lang="en-IN" altLang="en-US" sz="1700" u="sng">
              <a:solidFill>
                <a:srgbClr val="FF0000"/>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r>
              <a:rPr lang="en-IN" alt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Tensorflow:</a:t>
            </a:r>
            <a:r>
              <a:rPr lang="en-IN" altLang="en-US" sz="1700">
                <a:latin typeface="Times New Roman" panose="02020603050405020304" pitchFamily="18" charset="0"/>
                <a:ea typeface="Helvetica Neue"/>
                <a:cs typeface="Times New Roman" panose="02020603050405020304" pitchFamily="18" charset="0"/>
                <a:sym typeface="Helvetica Neue"/>
              </a:rPr>
              <a:t>  TensorFlow can be used to develop models for various tasks, including</a:t>
            </a:r>
            <a:endParaRPr lang="en-IN" altLang="en-US" sz="1700">
              <a:latin typeface="Times New Roman" panose="02020603050405020304" pitchFamily="18" charset="0"/>
              <a:ea typeface="Helvetica Neue"/>
              <a:cs typeface="Times New Roman" panose="02020603050405020304" pitchFamily="18" charset="0"/>
              <a:sym typeface="Helvetica Neue"/>
            </a:endParaRPr>
          </a:p>
          <a:p>
            <a:pPr marL="7620" indent="0" algn="just">
              <a:lnSpc>
                <a:spcPct val="101000"/>
              </a:lnSpc>
              <a:spcBef>
                <a:spcPts val="60"/>
              </a:spcBef>
              <a:buNone/>
            </a:pPr>
            <a:r>
              <a:rPr lang="en-IN" altLang="en-US" sz="1700">
                <a:latin typeface="Times New Roman" panose="02020603050405020304" pitchFamily="18" charset="0"/>
                <a:ea typeface="Helvetica Neue"/>
                <a:cs typeface="Times New Roman" panose="02020603050405020304" pitchFamily="18" charset="0"/>
                <a:sym typeface="Helvetica Neue"/>
              </a:rPr>
              <a:t>      natural language processing , image recognition , handwriting recognition , and </a:t>
            </a:r>
            <a:endParaRPr lang="en-IN" altLang="en-US" sz="1700">
              <a:latin typeface="Times New Roman" panose="02020603050405020304" pitchFamily="18" charset="0"/>
              <a:ea typeface="Helvetica Neue"/>
              <a:cs typeface="Times New Roman" panose="02020603050405020304" pitchFamily="18" charset="0"/>
              <a:sym typeface="Helvetica Neue"/>
            </a:endParaRPr>
          </a:p>
          <a:p>
            <a:pPr marL="7620" indent="0" algn="just">
              <a:lnSpc>
                <a:spcPct val="101000"/>
              </a:lnSpc>
              <a:spcBef>
                <a:spcPts val="60"/>
              </a:spcBef>
              <a:buNone/>
            </a:pPr>
            <a:r>
              <a:rPr lang="en-IN" altLang="en-US" sz="1700">
                <a:latin typeface="Times New Roman" panose="02020603050405020304" pitchFamily="18" charset="0"/>
                <a:ea typeface="Helvetica Neue"/>
                <a:cs typeface="Times New Roman" panose="02020603050405020304" pitchFamily="18" charset="0"/>
                <a:sym typeface="Helvetica Neue"/>
              </a:rPr>
              <a:t>      different computational-based simulations such as partial differential equations.                      </a:t>
            </a:r>
            <a:endParaRPr sz="2000">
              <a:latin typeface="Times New Roman" panose="02020603050405020304" pitchFamily="18" charset="0"/>
              <a:ea typeface="Microsoft Sans Serif" panose="020B0604020202020204" pitchFamily="34" charset="0"/>
              <a:cs typeface="Times New Roman" panose="02020603050405020304" pitchFamily="18" charset="0"/>
            </a:endParaRPr>
          </a:p>
          <a:p>
            <a:pPr marL="7620" algn="just">
              <a:lnSpc>
                <a:spcPct val="101000"/>
              </a:lnSpc>
              <a:spcBef>
                <a:spcPts val="60"/>
              </a:spcBef>
            </a:pPr>
            <a:endParaRPr sz="2910">
              <a:solidFill>
                <a:srgbClr val="6D6E71"/>
              </a:solidFill>
              <a:latin typeface="Times New Roman" panose="02020603050405020304" pitchFamily="18" charset="0"/>
              <a:ea typeface="Helvetica Neue"/>
              <a:cs typeface="Times New Roman" panose="02020603050405020304" pitchFamily="18" charset="0"/>
              <a:sym typeface="Helvetica Neue"/>
            </a:endParaRPr>
          </a:p>
        </p:txBody>
      </p:sp>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a:solidFill>
                  <a:srgbClr val="231F20"/>
                </a:solidFill>
                <a:latin typeface="Helvetica Neue"/>
                <a:ea typeface="Helvetica Neue"/>
                <a:cs typeface="Helvetica Neue"/>
                <a:sym typeface="Helvetica Neue"/>
              </a:rPr>
              <a:t> </a:t>
            </a:r>
            <a:endParaRPr sz="970" b="1">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a:solidFill>
                  <a:schemeClr val="accent1">
                    <a:lumMod val="7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TECHNOLOGY</a:t>
            </a:r>
            <a:r>
              <a:rPr lang="en-US" sz="3600">
                <a:solidFill>
                  <a:schemeClr val="accent1">
                    <a:lumMod val="7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USED</a:t>
            </a:r>
            <a:endParaRPr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a:t>FUTURE BEGINS HERE</a:t>
            </a:r>
            <a:endParaRPr 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pic>
        <p:nvPicPr>
          <p:cNvPr id="5" name="Picture 4" descr="OIP (2)"/>
          <p:cNvPicPr>
            <a:picLocks noChangeAspect="1"/>
          </p:cNvPicPr>
          <p:nvPr/>
        </p:nvPicPr>
        <p:blipFill>
          <a:blip r:embed="rId4"/>
          <a:stretch>
            <a:fillRect/>
          </a:stretch>
        </p:blipFill>
        <p:spPr>
          <a:xfrm>
            <a:off x="8541385" y="4547235"/>
            <a:ext cx="2950210" cy="21526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399495" y="1055010"/>
            <a:ext cx="11601037" cy="5742219"/>
          </a:xfrm>
          <a:prstGeom prst="rect">
            <a:avLst/>
          </a:prstGeom>
          <a:noFill/>
          <a:ln>
            <a:noFill/>
          </a:ln>
        </p:spPr>
        <p:txBody>
          <a:bodyPr spcFirstLastPara="1" wrap="square" lIns="0" tIns="7307" rIns="0" bIns="0" anchor="t" anchorCtr="0">
            <a:noAutofit/>
          </a:bodyPr>
          <a:lstStyle/>
          <a:p>
            <a:pPr marL="350520" indent="-342900">
              <a:lnSpc>
                <a:spcPct val="101000"/>
              </a:lnSpc>
              <a:spcBef>
                <a:spcPts val="60"/>
              </a:spcBef>
              <a:buAutoNum type="arabicPeriod"/>
            </a:pPr>
            <a:r>
              <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Numpy: </a:t>
            </a:r>
            <a:r>
              <a:rPr lang="en-US" sz="1700">
                <a:latin typeface="Times New Roman" panose="02020603050405020304" pitchFamily="18" charset="0"/>
                <a:ea typeface="Helvetica Neue"/>
                <a:cs typeface="Times New Roman" panose="02020603050405020304" pitchFamily="18" charset="0"/>
                <a:sym typeface="Helvetica Neue"/>
              </a:rPr>
              <a:t>Numpy is a Python library used for numerical computing and scientific computing. It provides support for large, multi-dimensional arrays and matrices, along with a large collection of mathematical functions to operate on them.</a:t>
            </a: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nSpc>
                <a:spcPct val="101000"/>
              </a:lnSpc>
              <a:spcBef>
                <a:spcPts val="60"/>
              </a:spcBef>
              <a:buAutoNum type="arabicPeriod"/>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nSpc>
                <a:spcPct val="101000"/>
              </a:lnSpc>
              <a:spcBef>
                <a:spcPts val="60"/>
              </a:spcBef>
              <a:buAutoNum type="arabicPeriod"/>
            </a:pPr>
            <a:r>
              <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Pandas: </a:t>
            </a:r>
            <a:r>
              <a:rPr lang="en-US" sz="1700">
                <a:latin typeface="Times New Roman" panose="02020603050405020304" pitchFamily="18" charset="0"/>
                <a:ea typeface="Helvetica Neue"/>
                <a:cs typeface="Times New Roman" panose="02020603050405020304" pitchFamily="18" charset="0"/>
                <a:sym typeface="Helvetica Neue"/>
              </a:rPr>
              <a:t>Pandas is a Python library used for data manipulation and analysis. It provides data structures and functions to handle and manipulate data in a structured way, making it easier to work with data.</a:t>
            </a: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nSpc>
                <a:spcPct val="101000"/>
              </a:lnSpc>
              <a:spcBef>
                <a:spcPts val="60"/>
              </a:spcBef>
              <a:buAutoNum type="arabicPeriod"/>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nSpc>
                <a:spcPct val="101000"/>
              </a:lnSpc>
              <a:spcBef>
                <a:spcPts val="60"/>
              </a:spcBef>
              <a:buAutoNum type="arabicPeriod"/>
            </a:pPr>
            <a:r>
              <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Matplotlib: </a:t>
            </a:r>
            <a:r>
              <a:rPr lang="en-US" sz="1700">
                <a:latin typeface="Times New Roman" panose="02020603050405020304" pitchFamily="18" charset="0"/>
                <a:ea typeface="Helvetica Neue"/>
                <a:cs typeface="Times New Roman" panose="02020603050405020304" pitchFamily="18" charset="0"/>
                <a:sym typeface="Helvetica Neue"/>
              </a:rPr>
              <a:t>Matplotlib is a Python library used for data visualization and plotting. It provides functions and tools to create a wide variety of static, animated, and interactive visualizations of data.</a:t>
            </a: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nSpc>
                <a:spcPct val="101000"/>
              </a:lnSpc>
              <a:spcBef>
                <a:spcPts val="60"/>
              </a:spcBef>
              <a:buAutoNum type="arabicPeriod"/>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nSpc>
                <a:spcPct val="101000"/>
              </a:lnSpc>
              <a:spcBef>
                <a:spcPts val="60"/>
              </a:spcBef>
              <a:buAutoNum type="arabicPeriod"/>
            </a:pPr>
            <a:r>
              <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Scikit-learn: </a:t>
            </a:r>
            <a:r>
              <a:rPr lang="en-US" sz="1700">
                <a:latin typeface="Times New Roman" panose="02020603050405020304" pitchFamily="18" charset="0"/>
                <a:ea typeface="Helvetica Neue"/>
                <a:cs typeface="Times New Roman" panose="02020603050405020304" pitchFamily="18" charset="0"/>
                <a:sym typeface="Helvetica Neue"/>
              </a:rPr>
              <a:t>Scikit-learn is a Python library used for machine learning tasks such as classification, regression, and clustering. It provides a wide range of tools and algorithms to perform these tasks, along with functions to evaluate the performance of machine learning models.</a:t>
            </a: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nSpc>
                <a:spcPct val="101000"/>
              </a:lnSpc>
              <a:spcBef>
                <a:spcPts val="60"/>
              </a:spcBef>
              <a:buAutoNum type="arabicPeriod"/>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nSpc>
                <a:spcPct val="101000"/>
              </a:lnSpc>
              <a:spcBef>
                <a:spcPts val="60"/>
              </a:spcBef>
              <a:buAutoNum type="arabicPeriod"/>
            </a:pPr>
            <a:r>
              <a:rPr lang="en-IN" alt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Seaborn: </a:t>
            </a:r>
            <a:r>
              <a:rPr lang="en-IN" altLang="en-US" sz="1700">
                <a:latin typeface="Times New Roman" panose="02020603050405020304" pitchFamily="18" charset="0"/>
                <a:ea typeface="Helvetica Neue"/>
                <a:cs typeface="Times New Roman" panose="02020603050405020304" pitchFamily="18" charset="0"/>
                <a:sym typeface="Helvetica Neue"/>
              </a:rPr>
              <a:t>Seaborn is a Python library for statistical graphics plotting. It provides beautiful default styles and color palettes to make statistical plots more attractive.</a:t>
            </a:r>
            <a:endParaRPr sz="2000">
              <a:latin typeface="Times New Roman" panose="02020603050405020304" pitchFamily="18" charset="0"/>
              <a:ea typeface="Microsoft Sans Serif" panose="020B0604020202020204" pitchFamily="34" charset="0"/>
              <a:cs typeface="Times New Roman" panose="02020603050405020304" pitchFamily="18" charset="0"/>
            </a:endParaRPr>
          </a:p>
          <a:p>
            <a:pPr marL="7620">
              <a:lnSpc>
                <a:spcPct val="101000"/>
              </a:lnSpc>
              <a:spcBef>
                <a:spcPts val="60"/>
              </a:spcBef>
            </a:pPr>
            <a:endParaRPr sz="2910">
              <a:solidFill>
                <a:srgbClr val="6D6E71"/>
              </a:solidFill>
              <a:latin typeface="Times New Roman" panose="02020603050405020304" pitchFamily="18" charset="0"/>
              <a:ea typeface="Helvetica Neue"/>
              <a:cs typeface="Times New Roman" panose="02020603050405020304" pitchFamily="18" charset="0"/>
              <a:sym typeface="Helvetica Neue"/>
            </a:endParaRPr>
          </a:p>
        </p:txBody>
      </p:sp>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a:solidFill>
                  <a:srgbClr val="231F20"/>
                </a:solidFill>
                <a:latin typeface="Helvetica Neue"/>
                <a:ea typeface="Helvetica Neue"/>
                <a:cs typeface="Helvetica Neue"/>
                <a:sym typeface="Helvetica Neue"/>
              </a:rPr>
              <a:t> </a:t>
            </a:r>
            <a:endParaRPr sz="970" b="1">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a:solidFill>
                  <a:schemeClr val="accent1">
                    <a:lumMod val="7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LIBRARIES USED</a:t>
            </a:r>
            <a:endParaRPr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a:t>FUTURE BEGINS HERE</a:t>
            </a:r>
            <a:endParaRPr 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pic>
        <p:nvPicPr>
          <p:cNvPr id="4" name="Picture 3" descr="Python-pandas"/>
          <p:cNvPicPr>
            <a:picLocks noChangeAspect="1"/>
          </p:cNvPicPr>
          <p:nvPr/>
        </p:nvPicPr>
        <p:blipFill>
          <a:blip r:embed="rId4"/>
          <a:stretch>
            <a:fillRect/>
          </a:stretch>
        </p:blipFill>
        <p:spPr>
          <a:xfrm>
            <a:off x="3107055" y="5516245"/>
            <a:ext cx="1699895" cy="1100455"/>
          </a:xfrm>
          <a:prstGeom prst="rect">
            <a:avLst/>
          </a:prstGeom>
        </p:spPr>
      </p:pic>
      <p:pic>
        <p:nvPicPr>
          <p:cNvPr id="5" name="Picture 4" descr="OIP (5)"/>
          <p:cNvPicPr>
            <a:picLocks noChangeAspect="1"/>
          </p:cNvPicPr>
          <p:nvPr/>
        </p:nvPicPr>
        <p:blipFill>
          <a:blip r:embed="rId5"/>
          <a:stretch>
            <a:fillRect/>
          </a:stretch>
        </p:blipFill>
        <p:spPr>
          <a:xfrm>
            <a:off x="9128125" y="5374005"/>
            <a:ext cx="1396365" cy="1155700"/>
          </a:xfrm>
          <a:prstGeom prst="rect">
            <a:avLst/>
          </a:prstGeom>
        </p:spPr>
      </p:pic>
      <p:pic>
        <p:nvPicPr>
          <p:cNvPr id="6" name="Picture 5" descr="OIP (4)"/>
          <p:cNvPicPr>
            <a:picLocks noChangeAspect="1"/>
          </p:cNvPicPr>
          <p:nvPr/>
        </p:nvPicPr>
        <p:blipFill>
          <a:blip r:embed="rId6"/>
          <a:stretch>
            <a:fillRect/>
          </a:stretch>
        </p:blipFill>
        <p:spPr>
          <a:xfrm>
            <a:off x="7571740" y="5374005"/>
            <a:ext cx="1376045" cy="1145540"/>
          </a:xfrm>
          <a:prstGeom prst="rect">
            <a:avLst/>
          </a:prstGeom>
        </p:spPr>
      </p:pic>
      <p:pic>
        <p:nvPicPr>
          <p:cNvPr id="7" name="Picture 6" descr="download1"/>
          <p:cNvPicPr>
            <a:picLocks noChangeAspect="1"/>
          </p:cNvPicPr>
          <p:nvPr/>
        </p:nvPicPr>
        <p:blipFill>
          <a:blip r:embed="rId7"/>
          <a:stretch>
            <a:fillRect/>
          </a:stretch>
        </p:blipFill>
        <p:spPr>
          <a:xfrm>
            <a:off x="5317490" y="5516245"/>
            <a:ext cx="2153920" cy="1013460"/>
          </a:xfrm>
          <a:prstGeom prst="rect">
            <a:avLst/>
          </a:prstGeom>
        </p:spPr>
      </p:pic>
      <p:pic>
        <p:nvPicPr>
          <p:cNvPr id="9" name="Picture 8" descr="numpy"/>
          <p:cNvPicPr>
            <a:picLocks noChangeAspect="1"/>
          </p:cNvPicPr>
          <p:nvPr/>
        </p:nvPicPr>
        <p:blipFill>
          <a:blip r:embed="rId8"/>
          <a:stretch>
            <a:fillRect/>
          </a:stretch>
        </p:blipFill>
        <p:spPr>
          <a:xfrm>
            <a:off x="1042670" y="5429250"/>
            <a:ext cx="1908810" cy="10153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a:solidFill>
                  <a:srgbClr val="231F20"/>
                </a:solidFill>
                <a:latin typeface="Helvetica Neue"/>
                <a:ea typeface="Helvetica Neue"/>
                <a:cs typeface="Helvetica Neue"/>
                <a:sym typeface="Helvetica Neue"/>
              </a:rPr>
              <a:t> </a:t>
            </a:r>
            <a:endParaRPr sz="970" b="1">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PROJECT INTRODUCTION </a:t>
            </a:r>
            <a:endParaRPr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a:t>FUTURE BEGINS HERE</a:t>
            </a:r>
            <a:endParaRPr 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pic>
        <p:nvPicPr>
          <p:cNvPr id="2" name="Picture 1" descr="logo"/>
          <p:cNvPicPr>
            <a:picLocks noChangeAspect="1"/>
          </p:cNvPicPr>
          <p:nvPr/>
        </p:nvPicPr>
        <p:blipFill>
          <a:blip r:embed="rId4"/>
          <a:stretch>
            <a:fillRect/>
          </a:stretch>
        </p:blipFill>
        <p:spPr>
          <a:xfrm>
            <a:off x="9867900" y="5168265"/>
            <a:ext cx="1563370" cy="1340485"/>
          </a:xfrm>
          <a:prstGeom prst="rect">
            <a:avLst/>
          </a:prstGeom>
        </p:spPr>
      </p:pic>
      <p:sp>
        <p:nvSpPr>
          <p:cNvPr id="4" name="Text Box 3"/>
          <p:cNvSpPr txBox="1"/>
          <p:nvPr/>
        </p:nvSpPr>
        <p:spPr>
          <a:xfrm>
            <a:off x="344170" y="903605"/>
            <a:ext cx="11503025" cy="5748020"/>
          </a:xfrm>
          <a:prstGeom prst="rect">
            <a:avLst/>
          </a:prstGeom>
          <a:noFill/>
        </p:spPr>
        <p:txBody>
          <a:bodyPr wrap="square" rtlCol="0">
            <a:noAutofit/>
          </a:bodyPr>
          <a:p>
            <a:pPr algn="just"/>
            <a:r>
              <a:rPr lang="en-US" sz="1700">
                <a:latin typeface="Times New Roman" panose="02020603050405020304" pitchFamily="18" charset="0"/>
                <a:cs typeface="Times New Roman" panose="02020603050405020304" pitchFamily="18" charset="0"/>
              </a:rPr>
              <a:t>To predict mental disorders based on symptoms using machine learning with 17 features and 120 samples, follow these steps:</a:t>
            </a:r>
            <a:endParaRPr lang="en-US" sz="1700">
              <a:latin typeface="Times New Roman" panose="02020603050405020304" pitchFamily="18" charset="0"/>
              <a:cs typeface="Times New Roman" panose="02020603050405020304" pitchFamily="18" charset="0"/>
            </a:endParaRPr>
          </a:p>
          <a:p>
            <a:pPr marL="342900" indent="-342900" algn="just">
              <a:buAutoNum type="arabicPeriod"/>
            </a:pPr>
            <a:endParaRPr lang="en-US" sz="1700">
              <a:latin typeface="Times New Roman" panose="02020603050405020304" pitchFamily="18" charset="0"/>
              <a:cs typeface="Times New Roman" panose="02020603050405020304" pitchFamily="18" charset="0"/>
            </a:endParaRPr>
          </a:p>
          <a:p>
            <a:pPr marL="342900" indent="-342900" algn="just">
              <a:buAutoNum type="arabicPeriod"/>
            </a:pPr>
            <a:r>
              <a:rPr lang="en-US" sz="1700" u="sng">
                <a:solidFill>
                  <a:srgbClr val="FF0000"/>
                </a:solidFill>
                <a:latin typeface="Times New Roman" panose="02020603050405020304" pitchFamily="18" charset="0"/>
                <a:cs typeface="Times New Roman" panose="02020603050405020304" pitchFamily="18" charset="0"/>
              </a:rPr>
              <a:t>Data Collection:</a:t>
            </a:r>
            <a:r>
              <a:rPr lang="en-US" sz="1700">
                <a:latin typeface="Times New Roman" panose="02020603050405020304" pitchFamily="18" charset="0"/>
                <a:cs typeface="Times New Roman" panose="02020603050405020304" pitchFamily="18" charset="0"/>
              </a:rPr>
              <a:t> Assemble a diverse dataset with symptom information and diagnosed mental disorders.</a:t>
            </a:r>
            <a:endParaRPr lang="en-US" sz="1700">
              <a:latin typeface="Times New Roman" panose="02020603050405020304" pitchFamily="18" charset="0"/>
              <a:cs typeface="Times New Roman" panose="02020603050405020304" pitchFamily="18" charset="0"/>
            </a:endParaRPr>
          </a:p>
          <a:p>
            <a:pPr marL="342900" indent="-342900" algn="just">
              <a:buAutoNum type="arabicPeriod"/>
            </a:pPr>
            <a:endParaRPr lang="en-US" sz="1700">
              <a:latin typeface="Times New Roman" panose="02020603050405020304" pitchFamily="18" charset="0"/>
              <a:cs typeface="Times New Roman" panose="02020603050405020304" pitchFamily="18" charset="0"/>
            </a:endParaRPr>
          </a:p>
          <a:p>
            <a:pPr marL="342900" indent="-342900" algn="just">
              <a:buAutoNum type="arabicPeriod"/>
            </a:pPr>
            <a:r>
              <a:rPr lang="en-US" sz="1700" u="sng">
                <a:solidFill>
                  <a:srgbClr val="FF0000"/>
                </a:solidFill>
                <a:latin typeface="Times New Roman" panose="02020603050405020304" pitchFamily="18" charset="0"/>
                <a:cs typeface="Times New Roman" panose="02020603050405020304" pitchFamily="18" charset="0"/>
              </a:rPr>
              <a:t>Data Preprocessing:</a:t>
            </a:r>
            <a:r>
              <a:rPr lang="en-US" sz="1700">
                <a:latin typeface="Times New Roman" panose="02020603050405020304" pitchFamily="18" charset="0"/>
                <a:cs typeface="Times New Roman" panose="02020603050405020304" pitchFamily="18" charset="0"/>
              </a:rPr>
              <a:t> Clean, handle missing values, and encode categorical variables. Split data into symptom features and diagnosed disorder targets.</a:t>
            </a:r>
            <a:endParaRPr lang="en-US" sz="1700">
              <a:latin typeface="Times New Roman" panose="02020603050405020304" pitchFamily="18" charset="0"/>
              <a:cs typeface="Times New Roman" panose="02020603050405020304" pitchFamily="18" charset="0"/>
            </a:endParaRPr>
          </a:p>
          <a:p>
            <a:pPr marL="342900" indent="-342900" algn="just">
              <a:buAutoNum type="arabicPeriod"/>
            </a:pPr>
            <a:endParaRPr lang="en-US" sz="1700">
              <a:latin typeface="Times New Roman" panose="02020603050405020304" pitchFamily="18" charset="0"/>
              <a:cs typeface="Times New Roman" panose="02020603050405020304" pitchFamily="18" charset="0"/>
            </a:endParaRPr>
          </a:p>
          <a:p>
            <a:pPr marL="342900" indent="-342900" algn="just">
              <a:buAutoNum type="arabicPeriod"/>
            </a:pPr>
            <a:r>
              <a:rPr lang="en-US" sz="1700" u="sng">
                <a:solidFill>
                  <a:srgbClr val="FF0000"/>
                </a:solidFill>
                <a:latin typeface="Times New Roman" panose="02020603050405020304" pitchFamily="18" charset="0"/>
                <a:cs typeface="Times New Roman" panose="02020603050405020304" pitchFamily="18" charset="0"/>
              </a:rPr>
              <a:t>Feature Engineering:</a:t>
            </a:r>
            <a:r>
              <a:rPr lang="en-US" sz="1700">
                <a:latin typeface="Times New Roman" panose="02020603050405020304" pitchFamily="18" charset="0"/>
                <a:cs typeface="Times New Roman" panose="02020603050405020304" pitchFamily="18" charset="0"/>
              </a:rPr>
              <a:t> Analyze feature relevance and perform dimensionality reduction if necessary.</a:t>
            </a:r>
            <a:endParaRPr lang="en-US" sz="1700">
              <a:latin typeface="Times New Roman" panose="02020603050405020304" pitchFamily="18" charset="0"/>
              <a:cs typeface="Times New Roman" panose="02020603050405020304" pitchFamily="18" charset="0"/>
            </a:endParaRPr>
          </a:p>
          <a:p>
            <a:pPr marL="342900" indent="-342900" algn="just">
              <a:buAutoNum type="arabicPeriod"/>
            </a:pPr>
            <a:endParaRPr lang="en-US" sz="1700">
              <a:latin typeface="Times New Roman" panose="02020603050405020304" pitchFamily="18" charset="0"/>
              <a:cs typeface="Times New Roman" panose="02020603050405020304" pitchFamily="18" charset="0"/>
            </a:endParaRPr>
          </a:p>
          <a:p>
            <a:pPr marL="342900" indent="-342900" algn="just">
              <a:buAutoNum type="arabicPeriod"/>
            </a:pPr>
            <a:r>
              <a:rPr lang="en-US" sz="1700" u="sng">
                <a:solidFill>
                  <a:srgbClr val="FF0000"/>
                </a:solidFill>
                <a:latin typeface="Times New Roman" panose="02020603050405020304" pitchFamily="18" charset="0"/>
                <a:cs typeface="Times New Roman" panose="02020603050405020304" pitchFamily="18" charset="0"/>
              </a:rPr>
              <a:t>Model Selection:</a:t>
            </a:r>
            <a:r>
              <a:rPr lang="en-US" sz="1700">
                <a:latin typeface="Times New Roman" panose="02020603050405020304" pitchFamily="18" charset="0"/>
                <a:cs typeface="Times New Roman" panose="02020603050405020304" pitchFamily="18" charset="0"/>
              </a:rPr>
              <a:t> Choose appropriate classification algorithms (e.g., Random Forest, SVM</a:t>
            </a:r>
            <a:r>
              <a:rPr lang="en-IN" altLang="en-US" sz="1700">
                <a:latin typeface="Times New Roman" panose="02020603050405020304" pitchFamily="18" charset="0"/>
                <a:cs typeface="Times New Roman" panose="02020603050405020304" pitchFamily="18" charset="0"/>
              </a:rPr>
              <a:t>,LR</a:t>
            </a:r>
            <a:r>
              <a:rPr lang="en-US" sz="1700">
                <a:latin typeface="Times New Roman" panose="02020603050405020304" pitchFamily="18" charset="0"/>
                <a:cs typeface="Times New Roman" panose="02020603050405020304" pitchFamily="18" charset="0"/>
              </a:rPr>
              <a:t>) and ensemble methods.</a:t>
            </a:r>
            <a:endParaRPr lang="en-US" sz="1700">
              <a:latin typeface="Times New Roman" panose="02020603050405020304" pitchFamily="18" charset="0"/>
              <a:cs typeface="Times New Roman" panose="02020603050405020304" pitchFamily="18" charset="0"/>
            </a:endParaRPr>
          </a:p>
          <a:p>
            <a:pPr marL="342900" indent="-342900" algn="just">
              <a:buAutoNum type="arabicPeriod"/>
            </a:pPr>
            <a:endParaRPr lang="en-US" sz="1700">
              <a:latin typeface="Times New Roman" panose="02020603050405020304" pitchFamily="18" charset="0"/>
              <a:cs typeface="Times New Roman" panose="02020603050405020304" pitchFamily="18" charset="0"/>
            </a:endParaRPr>
          </a:p>
          <a:p>
            <a:pPr marL="342900" indent="-342900" algn="just">
              <a:buAutoNum type="arabicPeriod"/>
            </a:pPr>
            <a:r>
              <a:rPr lang="en-US" sz="1700" u="sng">
                <a:solidFill>
                  <a:srgbClr val="FF0000"/>
                </a:solidFill>
                <a:latin typeface="Times New Roman" panose="02020603050405020304" pitchFamily="18" charset="0"/>
                <a:cs typeface="Times New Roman" panose="02020603050405020304" pitchFamily="18" charset="0"/>
              </a:rPr>
              <a:t>Training and Evaluation:</a:t>
            </a:r>
            <a:r>
              <a:rPr lang="en-US" sz="1700">
                <a:latin typeface="Times New Roman" panose="02020603050405020304" pitchFamily="18" charset="0"/>
                <a:cs typeface="Times New Roman" panose="02020603050405020304" pitchFamily="18" charset="0"/>
              </a:rPr>
              <a:t> Split data, train models on training set, and evaluate using metrics like accuracy, precision, recall, and F1-score.</a:t>
            </a:r>
            <a:endParaRPr lang="en-US" sz="1700">
              <a:latin typeface="Times New Roman" panose="02020603050405020304" pitchFamily="18" charset="0"/>
              <a:cs typeface="Times New Roman" panose="02020603050405020304" pitchFamily="18" charset="0"/>
            </a:endParaRPr>
          </a:p>
          <a:p>
            <a:pPr marL="342900" indent="-342900" algn="just">
              <a:buAutoNum type="arabicPeriod"/>
            </a:pPr>
            <a:endParaRPr lang="en-US" sz="1700">
              <a:latin typeface="Times New Roman" panose="02020603050405020304" pitchFamily="18" charset="0"/>
              <a:cs typeface="Times New Roman" panose="02020603050405020304" pitchFamily="18" charset="0"/>
            </a:endParaRPr>
          </a:p>
          <a:p>
            <a:pPr marL="342900" indent="-342900" algn="just">
              <a:buAutoNum type="arabicPeriod"/>
            </a:pPr>
            <a:r>
              <a:rPr lang="en-US" sz="1700" u="sng">
                <a:solidFill>
                  <a:srgbClr val="FF0000"/>
                </a:solidFill>
                <a:latin typeface="Times New Roman" panose="02020603050405020304" pitchFamily="18" charset="0"/>
                <a:cs typeface="Times New Roman" panose="02020603050405020304" pitchFamily="18" charset="0"/>
              </a:rPr>
              <a:t>Validation:</a:t>
            </a:r>
            <a:r>
              <a:rPr lang="en-US" sz="1700">
                <a:latin typeface="Times New Roman" panose="02020603050405020304" pitchFamily="18" charset="0"/>
                <a:cs typeface="Times New Roman" panose="02020603050405020304" pitchFamily="18" charset="0"/>
              </a:rPr>
              <a:t> Validate models with techniques such as cross-validation to ensure robustness.</a:t>
            </a:r>
            <a:endParaRPr lang="en-US" sz="1700">
              <a:latin typeface="Times New Roman" panose="02020603050405020304" pitchFamily="18" charset="0"/>
              <a:cs typeface="Times New Roman" panose="02020603050405020304" pitchFamily="18" charset="0"/>
            </a:endParaRPr>
          </a:p>
          <a:p>
            <a:pPr marL="342900" indent="-342900" algn="just">
              <a:buAutoNum type="arabicPeriod"/>
            </a:pPr>
            <a:endParaRPr lang="en-US" sz="1700">
              <a:latin typeface="Times New Roman" panose="02020603050405020304" pitchFamily="18" charset="0"/>
              <a:cs typeface="Times New Roman" panose="02020603050405020304" pitchFamily="18" charset="0"/>
            </a:endParaRPr>
          </a:p>
          <a:p>
            <a:pPr marL="342900" indent="-342900" algn="just">
              <a:buAutoNum type="arabicPeriod"/>
            </a:pPr>
            <a:r>
              <a:rPr lang="en-US" sz="1700" u="sng">
                <a:solidFill>
                  <a:srgbClr val="FF0000"/>
                </a:solidFill>
                <a:latin typeface="Times New Roman" panose="02020603050405020304" pitchFamily="18" charset="0"/>
                <a:cs typeface="Times New Roman" panose="02020603050405020304" pitchFamily="18" charset="0"/>
              </a:rPr>
              <a:t>Prediction:</a:t>
            </a:r>
            <a:r>
              <a:rPr lang="en-US" sz="1700">
                <a:latin typeface="Times New Roman" panose="02020603050405020304" pitchFamily="18" charset="0"/>
                <a:cs typeface="Times New Roman" panose="02020603050405020304" pitchFamily="18" charset="0"/>
              </a:rPr>
              <a:t> Deploy the best-performing model for predicting mental disorders based on symptoms.</a:t>
            </a:r>
            <a:endParaRPr lang="en-US" sz="1700">
              <a:latin typeface="Times New Roman" panose="02020603050405020304" pitchFamily="18" charset="0"/>
              <a:cs typeface="Times New Roman" panose="02020603050405020304" pitchFamily="18" charset="0"/>
            </a:endParaRPr>
          </a:p>
          <a:p>
            <a:pPr marL="342900" indent="-342900" algn="just">
              <a:buAutoNum type="arabicPeriod"/>
            </a:pPr>
            <a:endParaRPr lang="en-US" sz="1700" u="sng">
              <a:solidFill>
                <a:srgbClr val="FF0000"/>
              </a:solidFill>
              <a:latin typeface="Times New Roman" panose="02020603050405020304" pitchFamily="18" charset="0"/>
              <a:cs typeface="Times New Roman" panose="02020603050405020304" pitchFamily="18" charset="0"/>
            </a:endParaRPr>
          </a:p>
          <a:p>
            <a:pPr marL="342900" indent="-342900" algn="just">
              <a:buAutoNum type="arabicPeriod"/>
            </a:pPr>
            <a:r>
              <a:rPr lang="en-US" sz="1700" u="sng">
                <a:solidFill>
                  <a:srgbClr val="FF0000"/>
                </a:solidFill>
                <a:latin typeface="Times New Roman" panose="02020603050405020304" pitchFamily="18" charset="0"/>
                <a:cs typeface="Times New Roman" panose="02020603050405020304" pitchFamily="18" charset="0"/>
              </a:rPr>
              <a:t>Monitoring and Updating:</a:t>
            </a:r>
            <a:r>
              <a:rPr lang="en-US" sz="1700">
                <a:latin typeface="Times New Roman" panose="02020603050405020304" pitchFamily="18" charset="0"/>
                <a:cs typeface="Times New Roman" panose="02020603050405020304" pitchFamily="18" charset="0"/>
              </a:rPr>
              <a:t> Continuously monitor model performance and update as new data or </a:t>
            </a:r>
            <a:endParaRPr lang="en-US" sz="1700">
              <a:latin typeface="Times New Roman" panose="02020603050405020304" pitchFamily="18" charset="0"/>
              <a:cs typeface="Times New Roman" panose="02020603050405020304" pitchFamily="18" charset="0"/>
            </a:endParaRPr>
          </a:p>
          <a:p>
            <a:pPr indent="0" algn="just">
              <a:buNone/>
            </a:pPr>
            <a:r>
              <a:rPr lang="en-IN" altLang="en-US" sz="1700">
                <a:latin typeface="Times New Roman" panose="02020603050405020304" pitchFamily="18" charset="0"/>
                <a:cs typeface="Times New Roman" panose="02020603050405020304" pitchFamily="18" charset="0"/>
              </a:rPr>
              <a:t>       </a:t>
            </a:r>
            <a:r>
              <a:rPr lang="en-US" sz="1700">
                <a:latin typeface="Times New Roman" panose="02020603050405020304" pitchFamily="18" charset="0"/>
                <a:cs typeface="Times New Roman" panose="02020603050405020304" pitchFamily="18" charset="0"/>
              </a:rPr>
              <a:t>understanding of mental disorders emerges.</a:t>
            </a:r>
            <a:endParaRPr lang="en-US" sz="170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399495" y="1055010"/>
            <a:ext cx="11601037" cy="5742219"/>
          </a:xfrm>
          <a:prstGeom prst="rect">
            <a:avLst/>
          </a:prstGeom>
          <a:noFill/>
          <a:ln>
            <a:noFill/>
          </a:ln>
        </p:spPr>
        <p:txBody>
          <a:bodyPr spcFirstLastPara="1" wrap="square" lIns="0" tIns="7307" rIns="0" bIns="0" anchor="t" anchorCtr="0">
            <a:noAutofit/>
          </a:bodyPr>
          <a:lstStyle/>
          <a:p>
            <a:pPr marL="7620">
              <a:lnSpc>
                <a:spcPct val="101000"/>
              </a:lnSpc>
              <a:spcBef>
                <a:spcPts val="60"/>
              </a:spcBef>
            </a:pPr>
            <a:endParaRPr sz="2910" dirty="0">
              <a:solidFill>
                <a:srgbClr val="6D6E71"/>
              </a:solidFill>
              <a:latin typeface="Helvetica Neue"/>
              <a:ea typeface="Helvetica Neue"/>
              <a:cs typeface="Helvetica Neue"/>
              <a:sym typeface="Helvetica Neue"/>
            </a:endParaRPr>
          </a:p>
        </p:txBody>
      </p:sp>
      <p:sp>
        <p:nvSpPr>
          <p:cNvPr id="62" name="Google Shape;62;p8"/>
          <p:cNvSpPr/>
          <p:nvPr/>
        </p:nvSpPr>
        <p:spPr>
          <a:xfrm flipV="1">
            <a:off x="267084" y="722959"/>
            <a:ext cx="11579856" cy="298425"/>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dirty="0">
                <a:solidFill>
                  <a:srgbClr val="231F20"/>
                </a:solidFill>
                <a:latin typeface="Helvetica Neue"/>
                <a:ea typeface="Helvetica Neue"/>
                <a:cs typeface="Helvetica Neue"/>
                <a:sym typeface="Helvetica Neue"/>
              </a:rPr>
              <a:t> </a:t>
            </a:r>
            <a:endParaRPr sz="970" b="1" dirty="0">
              <a:solidFill>
                <a:schemeClr val="dk1"/>
              </a:solidFill>
              <a:latin typeface="Helvetica Neue"/>
              <a:ea typeface="Helvetica Neue"/>
              <a:cs typeface="Helvetica Neue"/>
              <a:sym typeface="Helvetica Neue"/>
            </a:endParaRPr>
          </a:p>
        </p:txBody>
      </p:sp>
      <p:sp>
        <p:nvSpPr>
          <p:cNvPr id="67" name="Google Shape;67;p8"/>
          <p:cNvSpPr txBox="1"/>
          <p:nvPr/>
        </p:nvSpPr>
        <p:spPr>
          <a:xfrm>
            <a:off x="2047746" y="127139"/>
            <a:ext cx="6710977" cy="1103422"/>
          </a:xfrm>
          <a:prstGeom prst="rect">
            <a:avLst/>
          </a:prstGeom>
          <a:noFill/>
          <a:ln>
            <a:noFill/>
          </a:ln>
        </p:spPr>
        <p:txBody>
          <a:bodyPr spcFirstLastPara="1" wrap="square" lIns="0" tIns="7307" rIns="0" bIns="0" anchor="t" anchorCtr="0">
            <a:noAutofit/>
          </a:bodyPr>
          <a:lstStyle/>
          <a:p>
            <a:pPr marL="7620" algn="ctr"/>
            <a:r>
              <a:rPr lang="en-IN" altLang="en-US" sz="2800" dirty="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DIS</a:t>
            </a:r>
            <a:r>
              <a:rPr lang="en-US" sz="2800" dirty="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ADVANTAGES OF </a:t>
            </a:r>
            <a:r>
              <a:rPr lang="en-US" sz="28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THE </a:t>
            </a:r>
            <a:r>
              <a:rPr lang="en-IN" altLang="en-US" sz="28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EXISTING</a:t>
            </a:r>
            <a:r>
              <a:rPr lang="en-US" sz="28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r>
              <a:rPr lang="en-US" sz="2800" dirty="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SYSTEM </a:t>
            </a:r>
            <a:endParaRPr sz="2800" dirty="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dirty="0"/>
              <a:t>FUTURE BEGINS HERE</a:t>
            </a:r>
            <a:endParaRPr dirty="0"/>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sp>
        <p:nvSpPr>
          <p:cNvPr id="2" name="Google Shape;61;p8"/>
          <p:cNvSpPr txBox="1"/>
          <p:nvPr/>
        </p:nvSpPr>
        <p:spPr>
          <a:xfrm>
            <a:off x="267335" y="1285875"/>
            <a:ext cx="11600815" cy="5485765"/>
          </a:xfrm>
          <a:prstGeom prst="rect">
            <a:avLst/>
          </a:prstGeom>
          <a:noFill/>
          <a:ln>
            <a:noFill/>
          </a:ln>
        </p:spPr>
        <p:txBody>
          <a:bodyPr spcFirstLastPara="1" wrap="square" lIns="0" tIns="7307" rIns="0" bIns="0" anchor="t" anchorCtr="0">
            <a:noAutofit/>
          </a:bodyPr>
          <a:lstStyle/>
          <a:p>
            <a:pPr marL="350520" indent="-342900" algn="just">
              <a:lnSpc>
                <a:spcPct val="101000"/>
              </a:lnSpc>
              <a:spcBef>
                <a:spcPts val="60"/>
              </a:spcBef>
              <a:buAutoNum type="arabicPeriod"/>
            </a:pPr>
            <a:r>
              <a:rPr lang="en-US"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Limited access to care: </a:t>
            </a:r>
            <a:r>
              <a:rPr lang="en-US" sz="1700" dirty="0">
                <a:solidFill>
                  <a:schemeClr val="tx1"/>
                </a:solidFill>
                <a:latin typeface="Times New Roman" panose="02020603050405020304" pitchFamily="18" charset="0"/>
                <a:ea typeface="Helvetica Neue"/>
                <a:cs typeface="Times New Roman" panose="02020603050405020304" pitchFamily="18" charset="0"/>
                <a:sym typeface="Helvetica Neue"/>
              </a:rPr>
              <a:t>Despite the existence of effective prevention and treatment options, many individuals face barriers in accessing mental health services. Factors such as financial constraints, lack of healthcare infrastructure, and geographic remoteness can restrict access to care, exacerbating mental health issues.</a:t>
            </a:r>
            <a:endParaRPr lang="en-US"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endParaRPr lang="en-US"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endParaRPr lang="en-US" sz="1700" u="sng" dirty="0">
              <a:solidFill>
                <a:srgbClr val="FF0000"/>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r>
              <a:rPr lang="en-US"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Stigma and discrimination: </a:t>
            </a:r>
            <a:r>
              <a:rPr lang="en-US" sz="1700" dirty="0">
                <a:solidFill>
                  <a:schemeClr val="tx1"/>
                </a:solidFill>
                <a:latin typeface="Times New Roman" panose="02020603050405020304" pitchFamily="18" charset="0"/>
                <a:ea typeface="Helvetica Neue"/>
                <a:cs typeface="Times New Roman" panose="02020603050405020304" pitchFamily="18" charset="0"/>
                <a:sym typeface="Helvetica Neue"/>
              </a:rPr>
              <a:t>Stigmatization surrounding mental health conditions can lead to social exclusion, discrimination in employment and education, and reluctance to seek help. This stigma can prevent individuals from disclosing their struggles, seeking treatment, or accessing supportive resources, thereby perpetuating the cycle of distress and impairment.</a:t>
            </a:r>
            <a:endParaRPr lang="en-US"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endParaRPr lang="en-US" sz="1700" u="sng" dirty="0">
              <a:solidFill>
                <a:srgbClr val="FF0000"/>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endParaRPr lang="en-US" sz="1700" dirty="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AutoNum type="arabicPeriod"/>
            </a:pPr>
            <a:r>
              <a:rPr lang="en-US"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Human rights violations: </a:t>
            </a:r>
            <a:r>
              <a:rPr lang="en-US" sz="1700" dirty="0">
                <a:solidFill>
                  <a:schemeClr val="tx1"/>
                </a:solidFill>
                <a:latin typeface="Times New Roman" panose="02020603050405020304" pitchFamily="18" charset="0"/>
                <a:ea typeface="Helvetica Neue"/>
                <a:cs typeface="Times New Roman" panose="02020603050405020304" pitchFamily="18" charset="0"/>
                <a:sym typeface="Helvetica Neue"/>
              </a:rPr>
              <a:t>Individuals with mental health disorders may experience human rights violations, including involuntary treatment, confinement, and neglect. These violations can further exacerbate distress and impair functioning, leading to long-term consequences for individuals' well-being and autonomy.</a:t>
            </a:r>
            <a:endParaRPr lang="en-US" sz="1700" dirty="0">
              <a:latin typeface="Times New Roman" panose="02020603050405020304" pitchFamily="18" charset="0"/>
              <a:ea typeface="Microsoft Sans Serif" panose="020B0604020202020204" pitchFamily="34" charset="0"/>
              <a:cs typeface="Times New Roman" panose="02020603050405020304" pitchFamily="18" charset="0"/>
            </a:endParaRPr>
          </a:p>
          <a:p>
            <a:pPr marL="7620" algn="just">
              <a:lnSpc>
                <a:spcPct val="101000"/>
              </a:lnSpc>
              <a:spcBef>
                <a:spcPts val="60"/>
              </a:spcBef>
            </a:pPr>
            <a:endParaRPr lang="en-US" sz="1700" dirty="0">
              <a:solidFill>
                <a:srgbClr val="6D6E71"/>
              </a:solidFill>
              <a:latin typeface="Times New Roman" panose="02020603050405020304" pitchFamily="18" charset="0"/>
              <a:ea typeface="Helvetica Neue"/>
              <a:cs typeface="Times New Roman" panose="02020603050405020304" pitchFamily="18" charset="0"/>
              <a:sym typeface="Helvetica Neue"/>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399495" y="1055010"/>
            <a:ext cx="11601037" cy="5742219"/>
          </a:xfrm>
          <a:prstGeom prst="rect">
            <a:avLst/>
          </a:prstGeom>
          <a:noFill/>
          <a:ln>
            <a:noFill/>
          </a:ln>
        </p:spPr>
        <p:txBody>
          <a:bodyPr spcFirstLastPara="1" wrap="square" lIns="0" tIns="7307" rIns="0" bIns="0" anchor="t" anchorCtr="0">
            <a:noAutofit/>
          </a:bodyPr>
          <a:lstStyle/>
          <a:p>
            <a:pPr marL="7620">
              <a:lnSpc>
                <a:spcPct val="101000"/>
              </a:lnSpc>
              <a:spcBef>
                <a:spcPts val="60"/>
              </a:spcBef>
            </a:pPr>
            <a:endParaRPr sz="2910">
              <a:solidFill>
                <a:srgbClr val="6D6E71"/>
              </a:solidFill>
              <a:latin typeface="Helvetica Neue"/>
              <a:ea typeface="Helvetica Neue"/>
              <a:cs typeface="Helvetica Neue"/>
              <a:sym typeface="Helvetica Neue"/>
            </a:endParaRPr>
          </a:p>
        </p:txBody>
      </p:sp>
      <p:sp>
        <p:nvSpPr>
          <p:cNvPr id="62" name="Google Shape;62;p8"/>
          <p:cNvSpPr/>
          <p:nvPr/>
        </p:nvSpPr>
        <p:spPr>
          <a:xfrm flipV="1">
            <a:off x="267084" y="722959"/>
            <a:ext cx="11579856" cy="298425"/>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a:solidFill>
                  <a:srgbClr val="231F20"/>
                </a:solidFill>
                <a:latin typeface="Helvetica Neue"/>
                <a:ea typeface="Helvetica Neue"/>
                <a:cs typeface="Helvetica Neue"/>
                <a:sym typeface="Helvetica Neue"/>
              </a:rPr>
              <a:t> </a:t>
            </a:r>
            <a:endParaRPr sz="970" b="1">
              <a:solidFill>
                <a:schemeClr val="dk1"/>
              </a:solidFill>
              <a:latin typeface="Helvetica Neue"/>
              <a:ea typeface="Helvetica Neue"/>
              <a:cs typeface="Helvetica Neue"/>
              <a:sym typeface="Helvetica Neue"/>
            </a:endParaRPr>
          </a:p>
        </p:txBody>
      </p:sp>
      <p:sp>
        <p:nvSpPr>
          <p:cNvPr id="67" name="Google Shape;67;p8"/>
          <p:cNvSpPr txBox="1"/>
          <p:nvPr/>
        </p:nvSpPr>
        <p:spPr>
          <a:xfrm>
            <a:off x="2047746" y="127139"/>
            <a:ext cx="6710977" cy="1103422"/>
          </a:xfrm>
          <a:prstGeom prst="rect">
            <a:avLst/>
          </a:prstGeom>
          <a:noFill/>
          <a:ln>
            <a:noFill/>
          </a:ln>
        </p:spPr>
        <p:txBody>
          <a:bodyPr spcFirstLastPara="1" wrap="square" lIns="0" tIns="7307" rIns="0" bIns="0" anchor="t" anchorCtr="0">
            <a:noAutofit/>
          </a:bodyPr>
          <a:lstStyle/>
          <a:p>
            <a:pPr marL="7620" algn="ctr"/>
            <a:r>
              <a:rPr lang="en-US" sz="28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ADVANTAGES OF THE </a:t>
            </a:r>
            <a:r>
              <a:rPr lang="en-IN" altLang="en-US" sz="28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CURRENT</a:t>
            </a:r>
            <a:r>
              <a:rPr lang="en-US" sz="28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 SYSTEM </a:t>
            </a:r>
            <a:endParaRPr sz="28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a:t>FUTURE BEGINS HERE</a:t>
            </a:r>
            <a:endParaRPr 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sp>
        <p:nvSpPr>
          <p:cNvPr id="2" name="Google Shape;61;p8"/>
          <p:cNvSpPr txBox="1"/>
          <p:nvPr/>
        </p:nvSpPr>
        <p:spPr>
          <a:xfrm>
            <a:off x="267335" y="1357630"/>
            <a:ext cx="11600815" cy="5144135"/>
          </a:xfrm>
          <a:prstGeom prst="rect">
            <a:avLst/>
          </a:prstGeom>
          <a:noFill/>
          <a:ln>
            <a:noFill/>
          </a:ln>
        </p:spPr>
        <p:txBody>
          <a:bodyPr spcFirstLastPara="1" wrap="square" lIns="0" tIns="7307" rIns="0" bIns="0" anchor="t" anchorCtr="0">
            <a:noAutofit/>
          </a:bodyPr>
          <a:lstStyle/>
          <a:p>
            <a:pPr marL="350520" indent="-342900" algn="just">
              <a:lnSpc>
                <a:spcPct val="101000"/>
              </a:lnSpc>
              <a:spcBef>
                <a:spcPts val="60"/>
              </a:spcBef>
              <a:buFont typeface="Wingdings" panose="05000000000000000000" charset="0"/>
              <a:buAutoNum type="arabicPeriod"/>
            </a:pPr>
            <a:endPar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AutoNum type="arabicPeriod"/>
            </a:pPr>
            <a:r>
              <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Early Detection and Intervention:</a:t>
            </a:r>
            <a:r>
              <a:rPr lang="en-IN" alt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  </a:t>
            </a:r>
            <a:r>
              <a:rPr lang="en-IN" altLang="en-US" sz="1700">
                <a:solidFill>
                  <a:schemeClr val="tx1"/>
                </a:solidFill>
                <a:latin typeface="Times New Roman" panose="02020603050405020304" pitchFamily="18" charset="0"/>
                <a:ea typeface="Helvetica Neue"/>
                <a:cs typeface="Times New Roman" panose="02020603050405020304" pitchFamily="18" charset="0"/>
                <a:sym typeface="Helvetica Neue"/>
              </a:rPr>
              <a:t>Machine learning algorithms can analyze vast amounts of data to identify patterns indicative of mental health conditions, enabling early detection and intervention before symptoms escalate.</a:t>
            </a:r>
            <a:endParaRPr lang="en-IN" altLang="en-US" sz="17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AutoNum type="arabicPeriod"/>
            </a:pPr>
            <a:endParaRPr lang="en-IN" altLang="en-US" sz="1700" u="sng">
              <a:solidFill>
                <a:srgbClr val="FF0000"/>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AutoNum type="arabicPeriod"/>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AutoNum type="arabicPeriod"/>
            </a:pPr>
            <a:r>
              <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Improved Access to Care: </a:t>
            </a:r>
            <a:r>
              <a:rPr lang="en-US" sz="1700">
                <a:solidFill>
                  <a:schemeClr val="tx1"/>
                </a:solidFill>
                <a:latin typeface="Times New Roman" panose="02020603050405020304" pitchFamily="18" charset="0"/>
                <a:ea typeface="Helvetica Neue"/>
                <a:cs typeface="Times New Roman" panose="02020603050405020304" pitchFamily="18" charset="0"/>
                <a:sym typeface="Helvetica Neue"/>
              </a:rPr>
              <a:t>Telemedicine and digital mental health platforms powered by machine learning can extend mental health services to underserved populations, including those in remote or resource-limited areas, enhancing access to care</a:t>
            </a:r>
            <a:r>
              <a:rPr lang="en-IN" altLang="en-US" sz="1700">
                <a:solidFill>
                  <a:schemeClr val="tx1"/>
                </a:solidFill>
                <a:latin typeface="Times New Roman" panose="02020603050405020304" pitchFamily="18" charset="0"/>
                <a:ea typeface="Helvetica Neue"/>
                <a:cs typeface="Times New Roman" panose="02020603050405020304" pitchFamily="18" charset="0"/>
                <a:sym typeface="Helvetica Neue"/>
              </a:rPr>
              <a:t>.</a:t>
            </a:r>
            <a:endParaRPr lang="en-IN" altLang="en-US" sz="17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AutoNum type="arabicPeriod"/>
            </a:pPr>
            <a:endPar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AutoNum type="arabicPeriod"/>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AutoNum type="arabicPeriod"/>
            </a:pPr>
            <a:r>
              <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rPr>
              <a:t>Predictive Analytics: </a:t>
            </a:r>
            <a:r>
              <a:rPr lang="en-US" sz="1700">
                <a:solidFill>
                  <a:schemeClr val="tx1"/>
                </a:solidFill>
                <a:latin typeface="Times New Roman" panose="02020603050405020304" pitchFamily="18" charset="0"/>
                <a:ea typeface="Helvetica Neue"/>
                <a:cs typeface="Times New Roman" panose="02020603050405020304" pitchFamily="18" charset="0"/>
                <a:sym typeface="Helvetica Neue"/>
              </a:rPr>
              <a:t>Machine learning models can predict treatment outcomes, relapse risk, and response to different interventions, assisting clinicians in making informed decisions about patient care and resource allocation.</a:t>
            </a:r>
            <a:endParaRPr lang="en-US" sz="17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Char char="Ø"/>
            </a:pPr>
            <a:endParaRPr lang="en-US" sz="1700" u="sng">
              <a:solidFill>
                <a:srgbClr val="FF0000"/>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Char char="Ø"/>
            </a:pPr>
            <a:endParaRPr lang="en-US" sz="17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Char char="Ø"/>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Font typeface="Wingdings" panose="05000000000000000000" charset="0"/>
              <a:buChar char="Ø"/>
            </a:pPr>
            <a:endParaRPr lang="en-US" sz="1700">
              <a:latin typeface="Times New Roman" panose="02020603050405020304" pitchFamily="18" charset="0"/>
              <a:ea typeface="Helvetica Neue"/>
              <a:cs typeface="Times New Roman" panose="02020603050405020304" pitchFamily="18" charset="0"/>
              <a:sym typeface="Helvetica Neue"/>
            </a:endParaRPr>
          </a:p>
          <a:p>
            <a:pPr marL="350520" indent="-342900" algn="just">
              <a:lnSpc>
                <a:spcPct val="101000"/>
              </a:lnSpc>
              <a:spcBef>
                <a:spcPts val="60"/>
              </a:spcBef>
              <a:buClr>
                <a:srgbClr val="6D6E71"/>
              </a:buClr>
              <a:buSzPts val="4800"/>
              <a:buFont typeface="Wingdings" panose="05000000000000000000" charset="0"/>
              <a:buChar char="Ø"/>
            </a:pPr>
            <a:endParaRPr lang="en-US" sz="1700">
              <a:latin typeface="Times New Roman" panose="02020603050405020304" pitchFamily="18" charset="0"/>
              <a:ea typeface="Microsoft Sans Serif" panose="020B0604020202020204" pitchFamily="34" charset="0"/>
              <a:cs typeface="Times New Roman" panose="02020603050405020304" pitchFamily="18" charset="0"/>
            </a:endParaRPr>
          </a:p>
          <a:p>
            <a:pPr marL="7620" algn="just">
              <a:lnSpc>
                <a:spcPct val="101000"/>
              </a:lnSpc>
              <a:spcBef>
                <a:spcPts val="60"/>
              </a:spcBef>
              <a:buClr>
                <a:srgbClr val="6D6E71"/>
              </a:buClr>
              <a:buSzPts val="4800"/>
            </a:pPr>
            <a:endParaRPr lang="en-US" sz="1700">
              <a:latin typeface="Times New Roman" panose="02020603050405020304" pitchFamily="18" charset="0"/>
              <a:ea typeface="Microsoft Sans Serif" panose="020B0604020202020204" pitchFamily="34" charset="0"/>
              <a:cs typeface="Times New Roman" panose="02020603050405020304" pitchFamily="18" charset="0"/>
            </a:endParaRPr>
          </a:p>
          <a:p>
            <a:pPr marL="7620" algn="just">
              <a:lnSpc>
                <a:spcPct val="101000"/>
              </a:lnSpc>
              <a:spcBef>
                <a:spcPts val="60"/>
              </a:spcBef>
            </a:pPr>
            <a:endParaRPr lang="en-US" sz="1700">
              <a:solidFill>
                <a:srgbClr val="6D6E71"/>
              </a:solidFill>
              <a:latin typeface="Times New Roman" panose="02020603050405020304" pitchFamily="18" charset="0"/>
              <a:ea typeface="Helvetica Neue"/>
              <a:cs typeface="Times New Roman" panose="02020603050405020304" pitchFamily="18" charset="0"/>
              <a:sym typeface="Helvetica Neue"/>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295275" y="920750"/>
            <a:ext cx="11600815" cy="5552440"/>
          </a:xfrm>
          <a:prstGeom prst="rect">
            <a:avLst/>
          </a:prstGeom>
          <a:noFill/>
          <a:ln>
            <a:noFill/>
          </a:ln>
        </p:spPr>
        <p:txBody>
          <a:bodyPr spcFirstLastPara="1" wrap="square" lIns="0" tIns="7307" rIns="0" bIns="0" anchor="t" anchorCtr="0">
            <a:noAutofit/>
          </a:bodyPr>
          <a:lstStyle/>
          <a:p>
            <a:pPr marL="7620" algn="just">
              <a:lnSpc>
                <a:spcPct val="101000"/>
              </a:lnSpc>
              <a:spcBef>
                <a:spcPts val="60"/>
              </a:spcBef>
            </a:pPr>
            <a:r>
              <a:rPr lang="en-IN" u="sng" dirty="0">
                <a:solidFill>
                  <a:srgbClr val="FF0000"/>
                </a:solidFill>
                <a:latin typeface="Times New Roman" panose="02020603050405020304" pitchFamily="18" charset="0"/>
                <a:ea typeface="Helvetica Neue"/>
                <a:cs typeface="Times New Roman" panose="02020603050405020304" pitchFamily="18" charset="0"/>
                <a:sym typeface="Helvetica Neue"/>
              </a:rPr>
              <a:t> </a:t>
            </a:r>
            <a:r>
              <a:rPr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Mental Health Disorder Classification Using Machine Learning Techniques</a:t>
            </a:r>
            <a:r>
              <a:rPr lang="en-IN"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a:t>
            </a:r>
            <a:endParaRPr lang="en-IN" sz="1700" u="sng" dirty="0">
              <a:solidFill>
                <a:srgbClr val="FF0000"/>
              </a:solidFill>
              <a:latin typeface="Times New Roman" panose="02020603050405020304" pitchFamily="18" charset="0"/>
              <a:ea typeface="Helvetica Neue"/>
              <a:cs typeface="Times New Roman" panose="02020603050405020304" pitchFamily="18" charset="0"/>
              <a:sym typeface="Helvetica Neue"/>
            </a:endParaRPr>
          </a:p>
          <a:p>
            <a:pPr marL="7620" algn="just">
              <a:lnSpc>
                <a:spcPct val="101000"/>
              </a:lnSpc>
              <a:spcBef>
                <a:spcPts val="60"/>
              </a:spcBef>
            </a:pPr>
            <a:endPar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r>
              <a:rPr lang="en-IN"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Data Preprocessing:</a:t>
            </a:r>
            <a:r>
              <a:rPr lang="en-IN" sz="1700" b="1" dirty="0">
                <a:solidFill>
                  <a:schemeClr val="tx1"/>
                </a:solidFill>
                <a:latin typeface="Times New Roman" panose="02020603050405020304" pitchFamily="18" charset="0"/>
                <a:ea typeface="Helvetica Neue"/>
                <a:cs typeface="Times New Roman" panose="02020603050405020304" pitchFamily="18" charset="0"/>
                <a:sym typeface="Helvetica Neue"/>
              </a:rPr>
              <a:t> </a:t>
            </a:r>
            <a:r>
              <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rPr>
              <a:t>We will clean and preprocess the dataset to handle missing values, normalize numerical features, and encode categorical variables.</a:t>
            </a:r>
            <a:endPar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endPar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r>
              <a:rPr lang="en-IN"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Model Selection: </a:t>
            </a:r>
            <a:r>
              <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rPr>
              <a:t>We will explore various machine learning algorithms such as Logistic Regression (LR), Random Forest (RF), Support Vector Machine (SVM), and ensemble models, proposed model to classify mental health disorders.</a:t>
            </a:r>
            <a:endPar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endPar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r>
              <a:rPr lang="en-IN"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Model Training:</a:t>
            </a:r>
            <a:r>
              <a:rPr lang="en-IN" sz="1700" b="1" dirty="0">
                <a:solidFill>
                  <a:schemeClr val="tx1"/>
                </a:solidFill>
                <a:latin typeface="Times New Roman" panose="02020603050405020304" pitchFamily="18" charset="0"/>
                <a:ea typeface="Helvetica Neue"/>
                <a:cs typeface="Times New Roman" panose="02020603050405020304" pitchFamily="18" charset="0"/>
                <a:sym typeface="Helvetica Neue"/>
              </a:rPr>
              <a:t> </a:t>
            </a:r>
            <a:r>
              <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rPr>
              <a:t>We will split the dataset into training and testing sets and train the selected models using the training data.</a:t>
            </a:r>
            <a:endPar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endPar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r>
              <a:rPr lang="en-IN"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Model Evaluation:</a:t>
            </a:r>
            <a:r>
              <a:rPr lang="en-IN" sz="1700" b="1" dirty="0">
                <a:solidFill>
                  <a:schemeClr val="tx1"/>
                </a:solidFill>
                <a:latin typeface="Times New Roman" panose="02020603050405020304" pitchFamily="18" charset="0"/>
                <a:ea typeface="Helvetica Neue"/>
                <a:cs typeface="Times New Roman" panose="02020603050405020304" pitchFamily="18" charset="0"/>
                <a:sym typeface="Helvetica Neue"/>
              </a:rPr>
              <a:t> </a:t>
            </a:r>
            <a:r>
              <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rPr>
              <a:t>We will evaluate the performance of each model using metrics such as accuracy, precision, recall, F1 score, and confusion matrix.</a:t>
            </a:r>
            <a:endPar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endPar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r>
              <a:rPr lang="en-IN" sz="1700" u="sng" dirty="0">
                <a:solidFill>
                  <a:srgbClr val="FF0000"/>
                </a:solidFill>
                <a:latin typeface="Times New Roman" panose="02020603050405020304" pitchFamily="18" charset="0"/>
                <a:ea typeface="Helvetica Neue"/>
                <a:cs typeface="Times New Roman" panose="02020603050405020304" pitchFamily="18" charset="0"/>
                <a:sym typeface="Helvetica Neue"/>
              </a:rPr>
              <a:t>Testing and Prediction:</a:t>
            </a:r>
            <a:r>
              <a:rPr lang="en-IN" sz="1700" dirty="0">
                <a:solidFill>
                  <a:schemeClr val="tx1"/>
                </a:solidFill>
                <a:latin typeface="Times New Roman" panose="02020603050405020304" pitchFamily="18" charset="0"/>
                <a:ea typeface="Helvetica Neue"/>
                <a:cs typeface="Times New Roman" panose="02020603050405020304" pitchFamily="18" charset="0"/>
                <a:sym typeface="Helvetica Neue"/>
              </a:rPr>
              <a:t> Finally, we will deploy the trained model to predict mental health disorders for new, unseen data and assess its generalization ability.</a:t>
            </a:r>
            <a:endParaRPr lang="en-US" sz="1700"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endParaRPr lang="en-US" sz="1600"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p:txBody>
      </p:sp>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dirty="0">
                <a:solidFill>
                  <a:srgbClr val="231F20"/>
                </a:solidFill>
                <a:latin typeface="Helvetica Neue"/>
                <a:ea typeface="Helvetica Neue"/>
                <a:cs typeface="Helvetica Neue"/>
                <a:sym typeface="Helvetica Neue"/>
              </a:rPr>
              <a:t> </a:t>
            </a:r>
            <a:endParaRPr sz="970" b="1" dirty="0">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dirty="0">
                <a:solidFill>
                  <a:schemeClr val="accent1">
                    <a:lumMod val="7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dirty="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PROJECT DESCRIPTION</a:t>
            </a:r>
            <a:endParaRPr sz="3600" dirty="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dirty="0"/>
              <a:t>FUTURE BEGINS HERE</a:t>
            </a:r>
            <a:endParaRPr dirty="0"/>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295275" y="920750"/>
            <a:ext cx="11600815" cy="5753735"/>
          </a:xfrm>
          <a:prstGeom prst="rect">
            <a:avLst/>
          </a:prstGeom>
          <a:noFill/>
          <a:ln>
            <a:noFill/>
          </a:ln>
        </p:spPr>
        <p:txBody>
          <a:bodyPr spcFirstLastPara="1" wrap="square" lIns="0" tIns="7307" rIns="0" bIns="0" anchor="t" anchorCtr="0">
            <a:noAutofit/>
          </a:bodyPr>
          <a:lstStyle/>
          <a:p>
            <a:pPr marL="7620">
              <a:lnSpc>
                <a:spcPct val="101000"/>
              </a:lnSpc>
              <a:spcBef>
                <a:spcPts val="60"/>
              </a:spcBef>
            </a:pPr>
            <a:r>
              <a:rPr lang="en-IN" u="sng" dirty="0">
                <a:solidFill>
                  <a:srgbClr val="FF0000"/>
                </a:solidFill>
                <a:latin typeface="Times New Roman" panose="02020603050405020304" pitchFamily="18" charset="0"/>
                <a:ea typeface="Helvetica Neue"/>
                <a:cs typeface="Times New Roman" panose="02020603050405020304" pitchFamily="18" charset="0"/>
                <a:sym typeface="Helvetica Neue"/>
              </a:rPr>
              <a:t> </a:t>
            </a:r>
            <a:r>
              <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rPr>
              <a:t>Outcome</a:t>
            </a:r>
            <a:r>
              <a:rPr lang="en-IN" alt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rPr>
              <a:t> of this project</a:t>
            </a:r>
            <a:r>
              <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rPr>
              <a:t>:</a:t>
            </a: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gn="just">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gn="just">
              <a:lnSpc>
                <a:spcPct val="101000"/>
              </a:lnSpc>
              <a:spcBef>
                <a:spcPts val="60"/>
              </a:spcBef>
            </a:pPr>
            <a:r>
              <a:rPr lang="en-US">
                <a:latin typeface="Times New Roman" panose="02020603050405020304" pitchFamily="18" charset="0"/>
                <a:ea typeface="Microsoft Sans Serif" panose="020B0604020202020204" pitchFamily="34" charset="0"/>
                <a:cs typeface="Times New Roman" panose="02020603050405020304" pitchFamily="18" charset="0"/>
                <a:sym typeface="Helvetica Neue"/>
              </a:rPr>
              <a:t>The developed machine learning system will enable early detection and classification of mental health disorders, thereby facilitating timely intervention and personalized treatment planning. By leveraging various features related to individuals' mental health status, the system aims to improve access to effective mental health care and reduce stigma and discrimination associated with these disorders.We propose a neural network model for mental disorder classification, featuring two hidden layers with dropout regularization to prevent overfitting. Trained with the Adam optimizer and sparse categorical cross-entropy loss, the model evaluates performance using metrics</a:t>
            </a:r>
            <a:r>
              <a:rPr lang="en-IN" altLang="en-US">
                <a:latin typeface="Times New Roman" panose="02020603050405020304" pitchFamily="18" charset="0"/>
                <a:ea typeface="Microsoft Sans Serif" panose="020B0604020202020204" pitchFamily="34" charset="0"/>
                <a:cs typeface="Times New Roman" panose="02020603050405020304" pitchFamily="18" charset="0"/>
                <a:sym typeface="Helvetica Neue"/>
              </a:rPr>
              <a:t>.</a:t>
            </a:r>
            <a:r>
              <a:rPr lang="en-US">
                <a:latin typeface="Times New Roman" panose="02020603050405020304" pitchFamily="18" charset="0"/>
                <a:cs typeface="Times New Roman" panose="02020603050405020304" pitchFamily="18" charset="0"/>
                <a:sym typeface="+mn-ea"/>
              </a:rPr>
              <a:t>Based on these predictions, the app provides suggestions, such as seeking professional help and maintaining a routine to manage mood swings. There is also an option to generate a PDF report of the predictions and suggestions.</a:t>
            </a:r>
            <a:endParaRPr lang="en-US"/>
          </a:p>
          <a:p>
            <a:pPr marL="7620" algn="just">
              <a:lnSpc>
                <a:spcPct val="101000"/>
              </a:lnSpc>
              <a:spcBef>
                <a:spcPts val="60"/>
              </a:spcBef>
            </a:pPr>
            <a:endParaRPr lang="en-US" sz="170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gn="just">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7620">
              <a:lnSpc>
                <a:spcPct val="101000"/>
              </a:lnSpc>
              <a:spcBef>
                <a:spcPts val="60"/>
              </a:spcBef>
            </a:pPr>
            <a:endParaRPr lang="en-US" u="sng">
              <a:solidFill>
                <a:srgbClr val="FF0000"/>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endParaRPr lang="en-US" sz="1600" dirty="0">
              <a:solidFill>
                <a:schemeClr val="tx1"/>
              </a:solidFill>
              <a:latin typeface="Times New Roman" panose="02020603050405020304" pitchFamily="18" charset="0"/>
              <a:ea typeface="Microsoft Sans Serif" panose="020B0604020202020204" pitchFamily="34" charset="0"/>
              <a:cs typeface="Times New Roman" panose="02020603050405020304" pitchFamily="18" charset="0"/>
              <a:sym typeface="Helvetica Neue"/>
            </a:endParaRPr>
          </a:p>
        </p:txBody>
      </p:sp>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dirty="0">
                <a:solidFill>
                  <a:srgbClr val="231F20"/>
                </a:solidFill>
                <a:latin typeface="Helvetica Neue"/>
                <a:ea typeface="Helvetica Neue"/>
                <a:cs typeface="Helvetica Neue"/>
                <a:sym typeface="Helvetica Neue"/>
              </a:rPr>
              <a:t> </a:t>
            </a:r>
            <a:endParaRPr sz="970" b="1" dirty="0">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dirty="0">
                <a:solidFill>
                  <a:schemeClr val="accent1">
                    <a:lumMod val="7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dirty="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PROJECT DESCRIPTION</a:t>
            </a:r>
            <a:endParaRPr sz="3600" dirty="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dirty="0"/>
              <a:t>FUTURE BEGINS HERE</a:t>
            </a:r>
            <a:endParaRPr dirty="0"/>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267084" y="854853"/>
            <a:ext cx="11601037" cy="5742219"/>
          </a:xfrm>
          <a:prstGeom prst="rect">
            <a:avLst/>
          </a:prstGeom>
          <a:noFill/>
          <a:ln>
            <a:noFill/>
          </a:ln>
        </p:spPr>
        <p:txBody>
          <a:bodyPr spcFirstLastPara="1" wrap="square" lIns="0" tIns="7307" rIns="0" bIns="0" anchor="t" anchorCtr="0">
            <a:noAutofit/>
          </a:bodyPr>
          <a:lstStyle/>
          <a:p>
            <a:pPr marL="293370" indent="-285750" algn="just">
              <a:lnSpc>
                <a:spcPct val="101000"/>
              </a:lnSpc>
              <a:spcBef>
                <a:spcPts val="60"/>
              </a:spcBef>
              <a:buFont typeface="Arial" panose="020B0604020202020204" pitchFamily="34" charset="0"/>
              <a:buChar char="•"/>
            </a:pPr>
            <a:r>
              <a:rPr sz="1700">
                <a:latin typeface="Times New Roman" panose="02020603050405020304" pitchFamily="18" charset="0"/>
                <a:ea typeface="Helvetica Neue"/>
                <a:cs typeface="Times New Roman" panose="02020603050405020304" pitchFamily="18" charset="0"/>
                <a:sym typeface="Helvetica Neue"/>
              </a:rPr>
              <a:t>The overview you provided offers a comprehensive understanding of Linear Regression (LR), Random Forest (RF), Support Vector Machine (SVM), ensemble models,</a:t>
            </a:r>
            <a:r>
              <a:rPr lang="en-IN" sz="1700">
                <a:latin typeface="Times New Roman" panose="02020603050405020304" pitchFamily="18" charset="0"/>
                <a:ea typeface="Helvetica Neue"/>
                <a:cs typeface="Times New Roman" panose="02020603050405020304" pitchFamily="18" charset="0"/>
                <a:sym typeface="Helvetica Neue"/>
              </a:rPr>
              <a:t>Prosposed model</a:t>
            </a:r>
            <a:r>
              <a:rPr sz="1700">
                <a:latin typeface="Times New Roman" panose="02020603050405020304" pitchFamily="18" charset="0"/>
                <a:ea typeface="Helvetica Neue"/>
                <a:cs typeface="Times New Roman" panose="02020603050405020304" pitchFamily="18" charset="0"/>
                <a:sym typeface="Helvetica Neue"/>
              </a:rPr>
              <a:t> dataset details, and the steps involved in training data, preprocessing, building an ensemble model, training &amp; evaluation, and testing &amp; prediction in machine learning.</a:t>
            </a:r>
            <a:endParaRPr sz="1700">
              <a:latin typeface="Times New Roman" panose="02020603050405020304" pitchFamily="18" charset="0"/>
              <a:ea typeface="Helvetica Neue"/>
              <a:cs typeface="Times New Roman" panose="02020603050405020304" pitchFamily="18" charset="0"/>
              <a:sym typeface="Helvetica Neue"/>
            </a:endParaRPr>
          </a:p>
          <a:p>
            <a:pPr marL="7620" indent="0" algn="just">
              <a:lnSpc>
                <a:spcPct val="101000"/>
              </a:lnSpc>
              <a:spcBef>
                <a:spcPts val="60"/>
              </a:spcBef>
              <a:buFont typeface="Arial" panose="020B0604020202020204" pitchFamily="34" charset="0"/>
              <a:buNone/>
            </a:pPr>
            <a:r>
              <a:rPr sz="1700">
                <a:latin typeface="Times New Roman" panose="02020603050405020304" pitchFamily="18" charset="0"/>
                <a:ea typeface="Helvetica Neue"/>
                <a:cs typeface="Times New Roman" panose="02020603050405020304" pitchFamily="18" charset="0"/>
                <a:sym typeface="Helvetica Neue"/>
              </a:rPr>
              <a:t> </a:t>
            </a:r>
            <a:endParaRPr sz="1700">
              <a:latin typeface="Times New Roman" panose="02020603050405020304" pitchFamily="18" charset="0"/>
              <a:ea typeface="Helvetica Neue"/>
              <a:cs typeface="Times New Roman" panose="02020603050405020304" pitchFamily="18" charset="0"/>
              <a:sym typeface="Helvetica Neue"/>
            </a:endParaRPr>
          </a:p>
          <a:p>
            <a:pPr marL="7620" indent="0" algn="just">
              <a:lnSpc>
                <a:spcPct val="101000"/>
              </a:lnSpc>
              <a:spcBef>
                <a:spcPts val="60"/>
              </a:spcBef>
              <a:buFont typeface="Arial" panose="020B0604020202020204" pitchFamily="34" charset="0"/>
              <a:buNone/>
            </a:pPr>
            <a:endParaRPr sz="1700">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r>
              <a:rPr sz="1700">
                <a:latin typeface="Times New Roman" panose="02020603050405020304" pitchFamily="18" charset="0"/>
                <a:ea typeface="Helvetica Neue"/>
                <a:cs typeface="Times New Roman" panose="02020603050405020304" pitchFamily="18" charset="0"/>
                <a:sym typeface="Helvetica Neue"/>
              </a:rPr>
              <a:t>The dataset comprises </a:t>
            </a:r>
            <a:r>
              <a:rPr sz="1700" b="1">
                <a:latin typeface="Times New Roman" panose="02020603050405020304" pitchFamily="18" charset="0"/>
                <a:ea typeface="Helvetica Neue"/>
                <a:cs typeface="Times New Roman" panose="02020603050405020304" pitchFamily="18" charset="0"/>
                <a:sym typeface="Helvetica Neue"/>
              </a:rPr>
              <a:t>12</a:t>
            </a:r>
            <a:r>
              <a:rPr lang="en-IN" sz="1700" b="1">
                <a:latin typeface="Times New Roman" panose="02020603050405020304" pitchFamily="18" charset="0"/>
                <a:ea typeface="Helvetica Neue"/>
                <a:cs typeface="Times New Roman" panose="02020603050405020304" pitchFamily="18" charset="0"/>
                <a:sym typeface="Helvetica Neue"/>
              </a:rPr>
              <a:t>0</a:t>
            </a:r>
            <a:r>
              <a:rPr sz="1700" b="1">
                <a:latin typeface="Times New Roman" panose="02020603050405020304" pitchFamily="18" charset="0"/>
                <a:ea typeface="Helvetica Neue"/>
                <a:cs typeface="Times New Roman" panose="02020603050405020304" pitchFamily="18" charset="0"/>
                <a:sym typeface="Helvetica Neue"/>
              </a:rPr>
              <a:t> samples </a:t>
            </a:r>
            <a:r>
              <a:rPr sz="1700">
                <a:latin typeface="Times New Roman" panose="02020603050405020304" pitchFamily="18" charset="0"/>
                <a:ea typeface="Helvetica Neue"/>
                <a:cs typeface="Times New Roman" panose="02020603050405020304" pitchFamily="18" charset="0"/>
                <a:sym typeface="Helvetica Neue"/>
              </a:rPr>
              <a:t>for analysis. The dataset contains </a:t>
            </a:r>
            <a:r>
              <a:rPr sz="1700" b="1">
                <a:latin typeface="Times New Roman" panose="02020603050405020304" pitchFamily="18" charset="0"/>
                <a:ea typeface="Helvetica Neue"/>
                <a:cs typeface="Times New Roman" panose="02020603050405020304" pitchFamily="18" charset="0"/>
                <a:sym typeface="Helvetica Neue"/>
              </a:rPr>
              <a:t>four types</a:t>
            </a:r>
            <a:r>
              <a:rPr sz="1700">
                <a:latin typeface="Times New Roman" panose="02020603050405020304" pitchFamily="18" charset="0"/>
                <a:ea typeface="Helvetica Neue"/>
                <a:cs typeface="Times New Roman" panose="02020603050405020304" pitchFamily="18" charset="0"/>
                <a:sym typeface="Helvetica Neue"/>
              </a:rPr>
              <a:t> of mental health disorder datasets: normal, depression, bipolar-type 1, and bipolar type 2. It consists of </a:t>
            </a:r>
            <a:r>
              <a:rPr sz="1700" b="1">
                <a:latin typeface="Times New Roman" panose="02020603050405020304" pitchFamily="18" charset="0"/>
                <a:ea typeface="Helvetica Neue"/>
                <a:cs typeface="Times New Roman" panose="02020603050405020304" pitchFamily="18" charset="0"/>
                <a:sym typeface="Helvetica Neue"/>
              </a:rPr>
              <a:t>17 features</a:t>
            </a:r>
            <a:r>
              <a:rPr sz="1700">
                <a:latin typeface="Times New Roman" panose="02020603050405020304" pitchFamily="18" charset="0"/>
                <a:ea typeface="Helvetica Neue"/>
                <a:cs typeface="Times New Roman" panose="02020603050405020304" pitchFamily="18" charset="0"/>
                <a:sym typeface="Helvetica Neue"/>
              </a:rPr>
              <a:t> related to mental health, including Sadness, Euphoric, Exhausted, Sleep Disorder, and others.  </a:t>
            </a:r>
            <a:endParaRPr sz="1700">
              <a:latin typeface="Times New Roman" panose="02020603050405020304" pitchFamily="18" charset="0"/>
              <a:ea typeface="Helvetica Neue"/>
              <a:cs typeface="Times New Roman" panose="02020603050405020304" pitchFamily="18" charset="0"/>
              <a:sym typeface="Helvetica Neue"/>
            </a:endParaRPr>
          </a:p>
          <a:p>
            <a:pPr marL="7620" indent="0" algn="just">
              <a:lnSpc>
                <a:spcPct val="101000"/>
              </a:lnSpc>
              <a:spcBef>
                <a:spcPts val="60"/>
              </a:spcBef>
              <a:buFont typeface="Arial" panose="020B0604020202020204" pitchFamily="34" charset="0"/>
              <a:buNone/>
            </a:pPr>
            <a:endParaRPr sz="1700">
              <a:latin typeface="Times New Roman" panose="02020603050405020304" pitchFamily="18" charset="0"/>
              <a:ea typeface="Helvetica Neue"/>
              <a:cs typeface="Times New Roman" panose="02020603050405020304" pitchFamily="18" charset="0"/>
              <a:sym typeface="Helvetica Neue"/>
            </a:endParaRPr>
          </a:p>
          <a:p>
            <a:pPr marL="7620" indent="0" algn="just">
              <a:lnSpc>
                <a:spcPct val="101000"/>
              </a:lnSpc>
              <a:spcBef>
                <a:spcPts val="60"/>
              </a:spcBef>
              <a:buFont typeface="Arial" panose="020B0604020202020204" pitchFamily="34" charset="0"/>
              <a:buNone/>
            </a:pPr>
            <a:endParaRPr sz="1700">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r>
              <a:rPr sz="1700">
                <a:latin typeface="Times New Roman" panose="02020603050405020304" pitchFamily="18" charset="0"/>
                <a:ea typeface="Helvetica Neue"/>
                <a:cs typeface="Times New Roman" panose="02020603050405020304" pitchFamily="18" charset="0"/>
                <a:sym typeface="Helvetica Neue"/>
              </a:rPr>
              <a:t>L</a:t>
            </a:r>
            <a:r>
              <a:rPr lang="en-IN" sz="1700">
                <a:latin typeface="Times New Roman" panose="02020603050405020304" pitchFamily="18" charset="0"/>
                <a:ea typeface="Helvetica Neue"/>
                <a:cs typeface="Times New Roman" panose="02020603050405020304" pitchFamily="18" charset="0"/>
                <a:sym typeface="Helvetica Neue"/>
              </a:rPr>
              <a:t>ogistic</a:t>
            </a:r>
            <a:r>
              <a:rPr sz="1700">
                <a:latin typeface="Times New Roman" panose="02020603050405020304" pitchFamily="18" charset="0"/>
                <a:ea typeface="Helvetica Neue"/>
                <a:cs typeface="Times New Roman" panose="02020603050405020304" pitchFamily="18" charset="0"/>
                <a:sym typeface="Helvetica Neue"/>
              </a:rPr>
              <a:t> Regression (LR), Random Forest (RF), and Support Vector Machine (SVM) are powerful supervised machine learning algorithms used for various classification and regression tasks. Ensemble models combine multiple individual models to improve predictive performance and robustness. </a:t>
            </a:r>
            <a:endParaRPr sz="1700">
              <a:latin typeface="Times New Roman" panose="02020603050405020304" pitchFamily="18" charset="0"/>
              <a:ea typeface="Helvetica Neue"/>
              <a:cs typeface="Times New Roman" panose="02020603050405020304" pitchFamily="18" charset="0"/>
              <a:sym typeface="Helvetica Neue"/>
            </a:endParaRPr>
          </a:p>
          <a:p>
            <a:pPr marL="293370" indent="-285750" algn="just">
              <a:lnSpc>
                <a:spcPct val="101000"/>
              </a:lnSpc>
              <a:spcBef>
                <a:spcPts val="60"/>
              </a:spcBef>
              <a:buFont typeface="Arial" panose="020B0604020202020204" pitchFamily="34" charset="0"/>
              <a:buChar char="•"/>
            </a:pPr>
            <a:endParaRPr>
              <a:latin typeface="Times New Roman" panose="02020603050405020304" pitchFamily="18" charset="0"/>
              <a:ea typeface="Helvetica Neue"/>
              <a:cs typeface="Times New Roman" panose="02020603050405020304" pitchFamily="18" charset="0"/>
              <a:sym typeface="Helvetica Neue"/>
            </a:endParaRPr>
          </a:p>
          <a:p>
            <a:pPr marL="7620" algn="just">
              <a:lnSpc>
                <a:spcPct val="101000"/>
              </a:lnSpc>
              <a:spcBef>
                <a:spcPts val="60"/>
              </a:spcBef>
            </a:pPr>
            <a:endParaRPr>
              <a:latin typeface="Times New Roman" panose="02020603050405020304" pitchFamily="18" charset="0"/>
              <a:ea typeface="Helvetica Neue"/>
              <a:cs typeface="Times New Roman" panose="02020603050405020304" pitchFamily="18" charset="0"/>
              <a:sym typeface="Helvetica Neue"/>
            </a:endParaRPr>
          </a:p>
          <a:p>
            <a:pPr marL="7620" algn="just">
              <a:lnSpc>
                <a:spcPct val="101000"/>
              </a:lnSpc>
              <a:spcBef>
                <a:spcPts val="60"/>
              </a:spcBef>
            </a:pPr>
            <a:endParaRPr>
              <a:latin typeface="Times New Roman" panose="02020603050405020304" pitchFamily="18" charset="0"/>
              <a:ea typeface="Helvetica Neue"/>
              <a:cs typeface="Times New Roman" panose="02020603050405020304" pitchFamily="18" charset="0"/>
              <a:sym typeface="Helvetica Neue"/>
            </a:endParaRPr>
          </a:p>
        </p:txBody>
      </p:sp>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a:solidFill>
                  <a:srgbClr val="231F20"/>
                </a:solidFill>
                <a:latin typeface="Helvetica Neue"/>
                <a:ea typeface="Helvetica Neue"/>
                <a:cs typeface="Helvetica Neue"/>
                <a:sym typeface="Helvetica Neue"/>
              </a:rPr>
              <a:t> </a:t>
            </a:r>
            <a:endParaRPr sz="970" b="1">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a:solidFill>
                  <a:schemeClr val="accent1">
                    <a:lumMod val="7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WORKING</a:t>
            </a:r>
            <a:endParaRPr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a:t>FUTURE BEGINS HERE</a:t>
            </a:r>
            <a:endParaRPr 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a:solidFill>
                  <a:srgbClr val="231F20"/>
                </a:solidFill>
                <a:latin typeface="Helvetica Neue"/>
                <a:ea typeface="Helvetica Neue"/>
                <a:cs typeface="Helvetica Neue"/>
                <a:sym typeface="Helvetica Neue"/>
              </a:rPr>
              <a:t> </a:t>
            </a:r>
            <a:endParaRPr sz="970" b="1">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a:solidFill>
                  <a:schemeClr val="accent1">
                    <a:lumMod val="7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FLOWCHART</a:t>
            </a:r>
            <a:endParaRPr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a:t>FUTURE BEGINS HERE</a:t>
            </a:r>
            <a:endParaRPr 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pic>
        <p:nvPicPr>
          <p:cNvPr id="8" name="Picture 5" descr="IMG_256"/>
          <p:cNvPicPr>
            <a:picLocks noChangeAspect="1"/>
          </p:cNvPicPr>
          <p:nvPr/>
        </p:nvPicPr>
        <p:blipFill>
          <a:blip r:embed="rId4"/>
          <a:stretch>
            <a:fillRect/>
          </a:stretch>
        </p:blipFill>
        <p:spPr>
          <a:xfrm>
            <a:off x="4284980" y="1456055"/>
            <a:ext cx="2659380" cy="4640580"/>
          </a:xfrm>
          <a:prstGeom prst="rect">
            <a:avLst/>
          </a:prstGeom>
          <a:noFill/>
          <a:ln w="9525">
            <a:noFill/>
          </a:ln>
        </p:spPr>
      </p:pic>
      <p:sp>
        <p:nvSpPr>
          <p:cNvPr id="2" name="Text Box 1"/>
          <p:cNvSpPr txBox="1"/>
          <p:nvPr/>
        </p:nvSpPr>
        <p:spPr>
          <a:xfrm>
            <a:off x="4284980" y="3481705"/>
            <a:ext cx="2659380" cy="534035"/>
          </a:xfrm>
          <a:prstGeom prst="rect">
            <a:avLst/>
          </a:prstGeom>
          <a:ln>
            <a:solidFill>
              <a:schemeClr val="tx1"/>
            </a:solidFill>
          </a:ln>
        </p:spPr>
        <p:style>
          <a:lnRef idx="0">
            <a:srgbClr val="FFFFFF"/>
          </a:lnRef>
          <a:fillRef idx="2">
            <a:schemeClr val="accent3"/>
          </a:fillRef>
          <a:effectRef idx="1">
            <a:schemeClr val="accent3"/>
          </a:effectRef>
          <a:fontRef idx="minor">
            <a:schemeClr val="dk1"/>
          </a:fontRef>
        </p:style>
        <p:txBody>
          <a:bodyPr wrap="square" rtlCol="0">
            <a:noAutofit/>
          </a:bodyPr>
          <a:p>
            <a:pPr>
              <a:lnSpc>
                <a:spcPct val="100000"/>
              </a:lnSpc>
            </a:pPr>
            <a:r>
              <a:rPr lang="en-IN" altLang="en-US">
                <a:ln>
                  <a:noFill/>
                </a:ln>
                <a:latin typeface="Times New Roman" panose="02020603050405020304" pitchFamily="18" charset="0"/>
                <a:cs typeface="Times New Roman" panose="02020603050405020304" pitchFamily="18" charset="0"/>
              </a:rPr>
              <a:t>        </a:t>
            </a:r>
            <a:r>
              <a:rPr lang="en-IN" altLang="en-US" sz="2000">
                <a:ln>
                  <a:noFill/>
                </a:ln>
                <a:latin typeface="Times New Roman" panose="02020603050405020304" pitchFamily="18" charset="0"/>
                <a:cs typeface="Times New Roman" panose="02020603050405020304" pitchFamily="18" charset="0"/>
              </a:rPr>
              <a:t>Proposed Model</a:t>
            </a:r>
            <a:endParaRPr lang="en-IN" altLang="en-US" sz="2000">
              <a:ln>
                <a:noFill/>
              </a:ln>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267084" y="850086"/>
            <a:ext cx="11601037" cy="5742219"/>
          </a:xfrm>
          <a:prstGeom prst="rect">
            <a:avLst/>
          </a:prstGeom>
          <a:noFill/>
          <a:ln>
            <a:noFill/>
          </a:ln>
        </p:spPr>
        <p:txBody>
          <a:bodyPr spcFirstLastPara="1" wrap="square" lIns="0" tIns="7307" rIns="0" bIns="0" anchor="t" anchorCtr="0">
            <a:noAutofit/>
          </a:bodyPr>
          <a:lstStyle/>
          <a:p>
            <a:pPr marL="7620">
              <a:lnSpc>
                <a:spcPct val="101000"/>
              </a:lnSpc>
              <a:spcBef>
                <a:spcPts val="60"/>
              </a:spcBef>
            </a:pPr>
            <a:endParaRPr lang="en-IN" sz="2910">
              <a:solidFill>
                <a:srgbClr val="6D6E71"/>
              </a:solidFill>
              <a:latin typeface="Helvetica Neue"/>
              <a:ea typeface="Helvetica Neue"/>
              <a:cs typeface="Helvetica Neue"/>
              <a:sym typeface="Helvetica Neue"/>
            </a:endParaRPr>
          </a:p>
        </p:txBody>
      </p:sp>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a:solidFill>
                  <a:srgbClr val="231F20"/>
                </a:solidFill>
                <a:latin typeface="Helvetica Neue"/>
                <a:ea typeface="Helvetica Neue"/>
                <a:cs typeface="Helvetica Neue"/>
                <a:sym typeface="Helvetica Neue"/>
              </a:rPr>
              <a:t> </a:t>
            </a:r>
            <a:endParaRPr sz="970" b="1">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DAT</a:t>
            </a:r>
            <a:r>
              <a:rPr lang="en-IN" alt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ASET</a:t>
            </a: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 USED</a:t>
            </a:r>
            <a:endParaRPr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a:t>FUTURE BEGINS HERE</a:t>
            </a:r>
            <a:endParaRPr 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pic>
        <p:nvPicPr>
          <p:cNvPr id="6" name="Picture 5" descr="Screenshot 2024-04-22 150340"/>
          <p:cNvPicPr>
            <a:picLocks noChangeAspect="1"/>
          </p:cNvPicPr>
          <p:nvPr/>
        </p:nvPicPr>
        <p:blipFill>
          <a:blip r:embed="rId4"/>
          <a:stretch>
            <a:fillRect/>
          </a:stretch>
        </p:blipFill>
        <p:spPr>
          <a:xfrm>
            <a:off x="611505" y="1235710"/>
            <a:ext cx="10809605" cy="45002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849880" y="144780"/>
            <a:ext cx="6280150" cy="504190"/>
          </a:xfrm>
          <a:prstGeom prst="rect">
            <a:avLst/>
          </a:prstGeom>
          <a:noFill/>
        </p:spPr>
        <p:txBody>
          <a:bodyPr wrap="square" rtlCol="0">
            <a:no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rPr>
              <a:t>AFTER CLEANING DATASET</a:t>
            </a:r>
            <a:endParaRPr lang="en-IN" altLang="en-US" sz="360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pic>
        <p:nvPicPr>
          <p:cNvPr id="3" name="Picture 2"/>
          <p:cNvPicPr>
            <a:picLocks noChangeAspect="1"/>
          </p:cNvPicPr>
          <p:nvPr/>
        </p:nvPicPr>
        <p:blipFill>
          <a:blip r:embed="rId3"/>
          <a:stretch>
            <a:fillRect/>
          </a:stretch>
        </p:blipFill>
        <p:spPr>
          <a:xfrm>
            <a:off x="723900" y="1429385"/>
            <a:ext cx="10175875" cy="44538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849880" y="144780"/>
            <a:ext cx="6280150" cy="504190"/>
          </a:xfrm>
          <a:prstGeom prst="rect">
            <a:avLst/>
          </a:prstGeom>
          <a:noFill/>
        </p:spPr>
        <p:txBody>
          <a:bodyPr wrap="square" rtlCol="0">
            <a:no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rPr>
              <a:t>Exploratory Data Analysis(EDA)</a:t>
            </a:r>
            <a:endParaRPr lang="en-IN" altLang="en-US" sz="360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pic>
        <p:nvPicPr>
          <p:cNvPr id="2" name="Picture 1" descr="Screenshot 2024-04-25 143039"/>
          <p:cNvPicPr>
            <a:picLocks noChangeAspect="1"/>
          </p:cNvPicPr>
          <p:nvPr/>
        </p:nvPicPr>
        <p:blipFill>
          <a:blip r:embed="rId3"/>
          <a:stretch>
            <a:fillRect/>
          </a:stretch>
        </p:blipFill>
        <p:spPr>
          <a:xfrm>
            <a:off x="3504565" y="873760"/>
            <a:ext cx="3469640" cy="2529840"/>
          </a:xfrm>
          <a:prstGeom prst="rect">
            <a:avLst/>
          </a:prstGeom>
        </p:spPr>
      </p:pic>
      <p:pic>
        <p:nvPicPr>
          <p:cNvPr id="3" name="Picture 2" descr="Screenshot 2024-04-25 143015"/>
          <p:cNvPicPr>
            <a:picLocks noChangeAspect="1"/>
          </p:cNvPicPr>
          <p:nvPr/>
        </p:nvPicPr>
        <p:blipFill>
          <a:blip r:embed="rId4"/>
          <a:stretch>
            <a:fillRect/>
          </a:stretch>
        </p:blipFill>
        <p:spPr>
          <a:xfrm>
            <a:off x="184785" y="797560"/>
            <a:ext cx="2993390" cy="2592070"/>
          </a:xfrm>
          <a:prstGeom prst="rect">
            <a:avLst/>
          </a:prstGeom>
        </p:spPr>
      </p:pic>
      <p:pic>
        <p:nvPicPr>
          <p:cNvPr id="19" name="Picture 18" descr="Screenshot 2024-04-25 142806"/>
          <p:cNvPicPr>
            <a:picLocks noChangeAspect="1"/>
          </p:cNvPicPr>
          <p:nvPr/>
        </p:nvPicPr>
        <p:blipFill>
          <a:blip r:embed="rId5"/>
          <a:stretch>
            <a:fillRect/>
          </a:stretch>
        </p:blipFill>
        <p:spPr>
          <a:xfrm>
            <a:off x="7725410" y="873760"/>
            <a:ext cx="3702050" cy="2739390"/>
          </a:xfrm>
          <a:prstGeom prst="rect">
            <a:avLst/>
          </a:prstGeom>
        </p:spPr>
      </p:pic>
      <p:pic>
        <p:nvPicPr>
          <p:cNvPr id="21" name="Picture 20" descr="Screenshot 2024-04-25 142714"/>
          <p:cNvPicPr>
            <a:picLocks noChangeAspect="1"/>
          </p:cNvPicPr>
          <p:nvPr/>
        </p:nvPicPr>
        <p:blipFill>
          <a:blip r:embed="rId6"/>
          <a:stretch>
            <a:fillRect/>
          </a:stretch>
        </p:blipFill>
        <p:spPr>
          <a:xfrm>
            <a:off x="6096000" y="3738245"/>
            <a:ext cx="4505325" cy="2933065"/>
          </a:xfrm>
          <a:prstGeom prst="rect">
            <a:avLst/>
          </a:prstGeom>
        </p:spPr>
      </p:pic>
      <p:pic>
        <p:nvPicPr>
          <p:cNvPr id="22" name="Picture 21" descr="Screenshot 2024-04-25 143006"/>
          <p:cNvPicPr>
            <a:picLocks noChangeAspect="1"/>
          </p:cNvPicPr>
          <p:nvPr/>
        </p:nvPicPr>
        <p:blipFill>
          <a:blip r:embed="rId7"/>
          <a:stretch>
            <a:fillRect/>
          </a:stretch>
        </p:blipFill>
        <p:spPr>
          <a:xfrm>
            <a:off x="1064895" y="3736340"/>
            <a:ext cx="4221480" cy="28257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sp>
        <p:nvSpPr>
          <p:cNvPr id="2" name="Text Box 1"/>
          <p:cNvSpPr txBox="1"/>
          <p:nvPr/>
        </p:nvSpPr>
        <p:spPr>
          <a:xfrm>
            <a:off x="2665730" y="132080"/>
            <a:ext cx="7549515" cy="654685"/>
          </a:xfrm>
          <a:prstGeom prst="rect">
            <a:avLst/>
          </a:prstGeom>
          <a:noFill/>
        </p:spPr>
        <p:txBody>
          <a:bodyPr wrap="square" rtlCol="0" anchor="t">
            <a:no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rPr>
              <a:t>Exploratory Data Analysis(EDA)</a:t>
            </a:r>
            <a:endPar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endParaRPr>
          </a:p>
        </p:txBody>
      </p:sp>
      <p:pic>
        <p:nvPicPr>
          <p:cNvPr id="17" name="Picture 16" descr="Screenshot 2024-04-25 142854"/>
          <p:cNvPicPr>
            <a:picLocks noChangeAspect="1"/>
          </p:cNvPicPr>
          <p:nvPr/>
        </p:nvPicPr>
        <p:blipFill>
          <a:blip r:embed="rId3"/>
          <a:stretch>
            <a:fillRect/>
          </a:stretch>
        </p:blipFill>
        <p:spPr>
          <a:xfrm>
            <a:off x="427355" y="854075"/>
            <a:ext cx="4617720" cy="3125470"/>
          </a:xfrm>
          <a:prstGeom prst="rect">
            <a:avLst/>
          </a:prstGeom>
        </p:spPr>
      </p:pic>
      <p:pic>
        <p:nvPicPr>
          <p:cNvPr id="16" name="Picture 15" descr="Screenshot 2024-04-25 142927"/>
          <p:cNvPicPr>
            <a:picLocks noChangeAspect="1"/>
          </p:cNvPicPr>
          <p:nvPr/>
        </p:nvPicPr>
        <p:blipFill>
          <a:blip r:embed="rId4"/>
          <a:stretch>
            <a:fillRect/>
          </a:stretch>
        </p:blipFill>
        <p:spPr>
          <a:xfrm>
            <a:off x="6925945" y="835660"/>
            <a:ext cx="4921250" cy="3168015"/>
          </a:xfrm>
          <a:prstGeom prst="rect">
            <a:avLst/>
          </a:prstGeom>
        </p:spPr>
      </p:pic>
      <p:pic>
        <p:nvPicPr>
          <p:cNvPr id="3" name="Picture 2" descr="Screenshot 2024-04-25 142909"/>
          <p:cNvPicPr>
            <a:picLocks noChangeAspect="1"/>
          </p:cNvPicPr>
          <p:nvPr/>
        </p:nvPicPr>
        <p:blipFill>
          <a:blip r:embed="rId5"/>
          <a:stretch>
            <a:fillRect/>
          </a:stretch>
        </p:blipFill>
        <p:spPr>
          <a:xfrm>
            <a:off x="514350" y="4039870"/>
            <a:ext cx="4259580" cy="2276475"/>
          </a:xfrm>
          <a:prstGeom prst="rect">
            <a:avLst/>
          </a:prstGeom>
        </p:spPr>
      </p:pic>
      <p:pic>
        <p:nvPicPr>
          <p:cNvPr id="4" name="Picture 3" descr="Screenshot 2024-04-25 142957"/>
          <p:cNvPicPr>
            <a:picLocks noChangeAspect="1"/>
          </p:cNvPicPr>
          <p:nvPr/>
        </p:nvPicPr>
        <p:blipFill>
          <a:blip r:embed="rId6"/>
          <a:stretch>
            <a:fillRect/>
          </a:stretch>
        </p:blipFill>
        <p:spPr>
          <a:xfrm>
            <a:off x="7056755" y="4040505"/>
            <a:ext cx="4371975" cy="2286000"/>
          </a:xfrm>
          <a:prstGeom prst="rect">
            <a:avLst/>
          </a:prstGeom>
        </p:spPr>
      </p:pic>
      <p:sp>
        <p:nvSpPr>
          <p:cNvPr id="7" name="Text Box 6"/>
          <p:cNvSpPr txBox="1"/>
          <p:nvPr/>
        </p:nvSpPr>
        <p:spPr>
          <a:xfrm>
            <a:off x="9321800" y="5897880"/>
            <a:ext cx="2106930" cy="368300"/>
          </a:xfrm>
          <a:prstGeom prst="rect">
            <a:avLst/>
          </a:prstGeom>
          <a:noFill/>
        </p:spPr>
        <p:txBody>
          <a:bodyPr wrap="square" rtlCol="0">
            <a:spAutoFit/>
          </a:bodyPr>
          <a:p>
            <a:r>
              <a:rPr lang="en-US" u="sng"/>
              <a:t>Bivariate Analysis</a:t>
            </a:r>
            <a:endParaRPr lang="en-US" u="sng"/>
          </a:p>
        </p:txBody>
      </p:sp>
      <p:sp>
        <p:nvSpPr>
          <p:cNvPr id="8" name="Text Box 7"/>
          <p:cNvSpPr txBox="1"/>
          <p:nvPr/>
        </p:nvSpPr>
        <p:spPr>
          <a:xfrm>
            <a:off x="2400935" y="5767705"/>
            <a:ext cx="1941830" cy="368300"/>
          </a:xfrm>
          <a:prstGeom prst="rect">
            <a:avLst/>
          </a:prstGeom>
          <a:noFill/>
        </p:spPr>
        <p:txBody>
          <a:bodyPr wrap="square" rtlCol="0">
            <a:spAutoFit/>
          </a:bodyPr>
          <a:p>
            <a:r>
              <a:rPr lang="en-US" u="sng"/>
              <a:t>Univariate Analysis</a:t>
            </a:r>
            <a:endParaRPr lang="en-US" u="sng"/>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849880" y="144780"/>
            <a:ext cx="6280150" cy="504190"/>
          </a:xfrm>
          <a:prstGeom prst="rect">
            <a:avLst/>
          </a:prstGeom>
          <a:noFill/>
        </p:spPr>
        <p:txBody>
          <a:bodyPr wrap="square" rtlCol="0">
            <a:no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rPr>
              <a:t>  Results and comparison</a:t>
            </a:r>
            <a:endParaRPr lang="en-IN" altLang="en-US" sz="360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pic>
        <p:nvPicPr>
          <p:cNvPr id="3" name="Picture 2" descr="Screenshot 2024-05-12 225226"/>
          <p:cNvPicPr>
            <a:picLocks noChangeAspect="1"/>
          </p:cNvPicPr>
          <p:nvPr/>
        </p:nvPicPr>
        <p:blipFill>
          <a:blip r:embed="rId3"/>
          <a:stretch>
            <a:fillRect/>
          </a:stretch>
        </p:blipFill>
        <p:spPr>
          <a:xfrm>
            <a:off x="0" y="1340485"/>
            <a:ext cx="6235700" cy="3829050"/>
          </a:xfrm>
          <a:prstGeom prst="rect">
            <a:avLst/>
          </a:prstGeom>
        </p:spPr>
      </p:pic>
      <p:pic>
        <p:nvPicPr>
          <p:cNvPr id="9" name="Picture 8"/>
          <p:cNvPicPr>
            <a:picLocks noChangeAspect="1"/>
          </p:cNvPicPr>
          <p:nvPr/>
        </p:nvPicPr>
        <p:blipFill>
          <a:blip r:embed="rId4"/>
          <a:stretch>
            <a:fillRect/>
          </a:stretch>
        </p:blipFill>
        <p:spPr>
          <a:xfrm>
            <a:off x="6235700" y="1442085"/>
            <a:ext cx="5699760" cy="35579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849880" y="144780"/>
            <a:ext cx="6280150" cy="504190"/>
          </a:xfrm>
          <a:prstGeom prst="rect">
            <a:avLst/>
          </a:prstGeom>
          <a:noFill/>
        </p:spPr>
        <p:txBody>
          <a:bodyPr wrap="square" rtlCol="0">
            <a:no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rPr>
              <a:t>  Proposed Methodology</a:t>
            </a:r>
            <a:endParaRPr lang="en-IN" altLang="en-US" sz="360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sp>
        <p:nvSpPr>
          <p:cNvPr id="3" name="Text Box 2"/>
          <p:cNvSpPr txBox="1"/>
          <p:nvPr/>
        </p:nvSpPr>
        <p:spPr>
          <a:xfrm>
            <a:off x="259715" y="873760"/>
            <a:ext cx="11749405" cy="5833110"/>
          </a:xfrm>
          <a:prstGeom prst="rect">
            <a:avLst/>
          </a:prstGeom>
          <a:noFill/>
        </p:spPr>
        <p:txBody>
          <a:bodyPr wrap="square" rtlCol="0">
            <a:noAutofit/>
          </a:bodyPr>
          <a:p>
            <a:pPr algn="just"/>
            <a:r>
              <a:rPr lang="en-US"/>
              <a:t>Our model is a neural network for mental disorder classification, featuring two hidden layers with dropout regularization to prevent overfitting. Trained with the Adam optimizer and sparse categorical cross-entropy loss, the model evaluates performance using metrics like accuracy, precision, recall, and F1-score, complemented by a confusion matrix.</a:t>
            </a:r>
            <a:endParaRPr lang="en-US"/>
          </a:p>
          <a:p>
            <a:endParaRPr lang="en-US"/>
          </a:p>
          <a:p>
            <a:r>
              <a:rPr lang="en-US"/>
              <a:t>The model architecture:</a:t>
            </a:r>
            <a:endParaRPr lang="en-US"/>
          </a:p>
          <a:p>
            <a:pPr marL="342900" indent="-342900">
              <a:lnSpc>
                <a:spcPct val="160000"/>
              </a:lnSpc>
              <a:buAutoNum type="arabicPeriod"/>
            </a:pPr>
            <a:r>
              <a:rPr lang="en-US" u="sng">
                <a:solidFill>
                  <a:srgbClr val="FF0000"/>
                </a:solidFill>
              </a:rPr>
              <a:t>Input Layer:</a:t>
            </a:r>
            <a:r>
              <a:rPr lang="en-US"/>
              <a:t> Accepts the feature vector representing patients' emotional states and behaviors.</a:t>
            </a:r>
            <a:endParaRPr lang="en-US"/>
          </a:p>
          <a:p>
            <a:pPr marL="342900" indent="-342900">
              <a:lnSpc>
                <a:spcPct val="160000"/>
              </a:lnSpc>
              <a:buAutoNum type="arabicPeriod"/>
            </a:pPr>
            <a:r>
              <a:rPr lang="en-US" u="sng">
                <a:solidFill>
                  <a:srgbClr val="FF0000"/>
                </a:solidFill>
              </a:rPr>
              <a:t>Hidden Layers:</a:t>
            </a:r>
            <a:r>
              <a:rPr lang="en-US"/>
              <a:t> Two layers with ReLU activation functions (64 and 32 neurons, respectively) for learning complex relationships.</a:t>
            </a:r>
            <a:endParaRPr lang="en-US"/>
          </a:p>
          <a:p>
            <a:pPr marL="342900" indent="-342900">
              <a:lnSpc>
                <a:spcPct val="160000"/>
              </a:lnSpc>
              <a:buAutoNum type="arabicPeriod"/>
            </a:pPr>
            <a:r>
              <a:rPr lang="en-US" u="sng">
                <a:solidFill>
                  <a:srgbClr val="FF0000"/>
                </a:solidFill>
              </a:rPr>
              <a:t>Output Layer:</a:t>
            </a:r>
            <a:r>
              <a:rPr lang="en-US"/>
              <a:t> Four neurons representing the mental disorder classes, using softmax activation.</a:t>
            </a:r>
            <a:endParaRPr lang="en-US"/>
          </a:p>
          <a:p>
            <a:pPr marL="342900" indent="-342900">
              <a:lnSpc>
                <a:spcPct val="160000"/>
              </a:lnSpc>
              <a:buAutoNum type="arabicPeriod"/>
            </a:pPr>
            <a:r>
              <a:rPr lang="en-US" u="sng">
                <a:solidFill>
                  <a:srgbClr val="FF0000"/>
                </a:solidFill>
              </a:rPr>
              <a:t>Regularization:</a:t>
            </a:r>
            <a:r>
              <a:rPr lang="en-US"/>
              <a:t> Dropout applied after each hidden layer.</a:t>
            </a:r>
            <a:endParaRPr lang="en-US"/>
          </a:p>
          <a:p>
            <a:pPr marL="342900" indent="-342900">
              <a:lnSpc>
                <a:spcPct val="160000"/>
              </a:lnSpc>
              <a:buAutoNum type="arabicPeriod"/>
            </a:pPr>
            <a:r>
              <a:rPr lang="en-US" u="sng">
                <a:solidFill>
                  <a:srgbClr val="FF0000"/>
                </a:solidFill>
              </a:rPr>
              <a:t>Loss Function and Optimizer:</a:t>
            </a:r>
            <a:r>
              <a:rPr lang="en-US"/>
              <a:t> Sparse categorical cross-entropy loss with Adam optimizer.</a:t>
            </a:r>
            <a:endParaRPr lang="en-US"/>
          </a:p>
          <a:p>
            <a:pPr marL="342900" indent="-342900">
              <a:lnSpc>
                <a:spcPct val="160000"/>
              </a:lnSpc>
              <a:buAutoNum type="arabicPeriod"/>
            </a:pPr>
            <a:r>
              <a:rPr lang="en-US" u="sng">
                <a:solidFill>
                  <a:srgbClr val="FF0000"/>
                </a:solidFill>
              </a:rPr>
              <a:t>Training Procedure:</a:t>
            </a:r>
            <a:r>
              <a:rPr lang="en-US"/>
              <a:t> Trained on split training data for 100 epochs with early stopping (patience = 10).</a:t>
            </a:r>
            <a:endParaRPr lang="en-US"/>
          </a:p>
          <a:p>
            <a:pPr marL="342900" indent="-342900">
              <a:lnSpc>
                <a:spcPct val="160000"/>
              </a:lnSpc>
              <a:buAutoNum type="arabicPeriod"/>
            </a:pPr>
            <a:r>
              <a:rPr lang="en-US" u="sng">
                <a:solidFill>
                  <a:srgbClr val="FF0000"/>
                </a:solidFill>
              </a:rPr>
              <a:t>Evaluation:</a:t>
            </a:r>
            <a:r>
              <a:rPr lang="en-US"/>
              <a:t> Assessed using split test data with metrics and confusion matrix.</a:t>
            </a:r>
            <a:endParaRPr lang="en-US"/>
          </a:p>
          <a:p>
            <a:pPr indent="0">
              <a:lnSpc>
                <a:spcPct val="130000"/>
              </a:lnSpc>
              <a:buNone/>
            </a:pPr>
            <a:endParaRPr lang="en-US"/>
          </a:p>
          <a:p>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sp>
        <p:nvSpPr>
          <p:cNvPr id="3" name="Text Box 2"/>
          <p:cNvSpPr txBox="1"/>
          <p:nvPr/>
        </p:nvSpPr>
        <p:spPr>
          <a:xfrm>
            <a:off x="2864485" y="163830"/>
            <a:ext cx="6096000" cy="645160"/>
          </a:xfrm>
          <a:prstGeom prst="rect">
            <a:avLst/>
          </a:prstGeom>
          <a:noFill/>
        </p:spPr>
        <p:txBody>
          <a:bodyPr wrap="square" rtlCol="0" anchor="t">
            <a:sp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rPr>
              <a:t>  Proposed Model Performance</a:t>
            </a:r>
            <a:endPar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endParaRPr>
          </a:p>
        </p:txBody>
      </p:sp>
      <p:pic>
        <p:nvPicPr>
          <p:cNvPr id="8" name="Picture 7"/>
          <p:cNvPicPr>
            <a:picLocks noChangeAspect="1"/>
          </p:cNvPicPr>
          <p:nvPr/>
        </p:nvPicPr>
        <p:blipFill>
          <a:blip r:embed="rId3"/>
          <a:stretch>
            <a:fillRect/>
          </a:stretch>
        </p:blipFill>
        <p:spPr>
          <a:xfrm>
            <a:off x="1499235" y="1085850"/>
            <a:ext cx="8604885" cy="45796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sp>
        <p:nvSpPr>
          <p:cNvPr id="3" name="Text Box 2"/>
          <p:cNvSpPr txBox="1"/>
          <p:nvPr/>
        </p:nvSpPr>
        <p:spPr>
          <a:xfrm>
            <a:off x="2864485" y="163830"/>
            <a:ext cx="6096000" cy="645160"/>
          </a:xfrm>
          <a:prstGeom prst="rect">
            <a:avLst/>
          </a:prstGeom>
          <a:noFill/>
        </p:spPr>
        <p:txBody>
          <a:bodyPr wrap="square" rtlCol="0" anchor="t">
            <a:sp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rPr>
              <a:t>        Deployed Model </a:t>
            </a:r>
            <a:endPar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endParaRPr>
          </a:p>
        </p:txBody>
      </p:sp>
      <p:pic>
        <p:nvPicPr>
          <p:cNvPr id="5" name="Picture 4" descr="Screenshot 2024-06-10 211048"/>
          <p:cNvPicPr>
            <a:picLocks noChangeAspect="1"/>
          </p:cNvPicPr>
          <p:nvPr/>
        </p:nvPicPr>
        <p:blipFill>
          <a:blip r:embed="rId3"/>
          <a:srcRect r="4441"/>
          <a:stretch>
            <a:fillRect/>
          </a:stretch>
        </p:blipFill>
        <p:spPr>
          <a:xfrm>
            <a:off x="200025" y="1739265"/>
            <a:ext cx="5568950" cy="4046220"/>
          </a:xfrm>
          <a:prstGeom prst="rect">
            <a:avLst/>
          </a:prstGeom>
        </p:spPr>
      </p:pic>
      <p:pic>
        <p:nvPicPr>
          <p:cNvPr id="4" name="Picture 3" descr="Screenshot 2024-06-12 153519"/>
          <p:cNvPicPr>
            <a:picLocks noChangeAspect="1"/>
          </p:cNvPicPr>
          <p:nvPr/>
        </p:nvPicPr>
        <p:blipFill>
          <a:blip r:embed="rId4"/>
          <a:srcRect r="2750"/>
          <a:stretch>
            <a:fillRect/>
          </a:stretch>
        </p:blipFill>
        <p:spPr>
          <a:xfrm>
            <a:off x="6109970" y="1739265"/>
            <a:ext cx="5995670" cy="3962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blinds(horizontal)">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2"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sp>
        <p:nvSpPr>
          <p:cNvPr id="3" name="Text Box 2"/>
          <p:cNvSpPr txBox="1"/>
          <p:nvPr/>
        </p:nvSpPr>
        <p:spPr>
          <a:xfrm>
            <a:off x="2864485" y="163830"/>
            <a:ext cx="6096000" cy="645160"/>
          </a:xfrm>
          <a:prstGeom prst="rect">
            <a:avLst/>
          </a:prstGeom>
          <a:noFill/>
        </p:spPr>
        <p:txBody>
          <a:bodyPr wrap="square" rtlCol="0" anchor="t">
            <a:sp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rPr>
              <a:t>       Deployed Model </a:t>
            </a:r>
            <a:endPar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2" name="Text Box 1"/>
          <p:cNvSpPr txBox="1"/>
          <p:nvPr/>
        </p:nvSpPr>
        <p:spPr>
          <a:xfrm>
            <a:off x="432435" y="982345"/>
            <a:ext cx="11247755" cy="5741670"/>
          </a:xfrm>
          <a:prstGeom prst="rect">
            <a:avLst/>
          </a:prstGeom>
          <a:noFill/>
        </p:spPr>
        <p:txBody>
          <a:bodyPr wrap="square" rtlCol="0" anchor="t">
            <a:noAutofit/>
          </a:bodyPr>
          <a:p>
            <a:pPr algn="just"/>
            <a:r>
              <a:rPr lang="en-US">
                <a:latin typeface="Times New Roman" panose="02020603050405020304" pitchFamily="18" charset="0"/>
                <a:cs typeface="Times New Roman" panose="02020603050405020304" pitchFamily="18" charset="0"/>
              </a:rPr>
              <a:t>Streamlit is used to create an interactive web application where the model is trained in Google Colab and then integrated into the Streamlit app for real-time inference by taking user inputs. The process begins with model training in Google Colab, involving data preparation where data related to mental health symptoms and disorders is gathered and preprocessed. Machine learning algorithms are then used to train the model on this data, and the model's performance is evaluated to ensure high accuracy. Once the model achieves satisfactory performance, it is saved using a method such as joblib or pickle.</a:t>
            </a:r>
            <a:endParaRPr lang="en-US">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In the Streamlit app, the saved model is loaded to perform real-time inference. Streamlit provides a user-friendly interface where users can input their symptoms. For instance, users enter their name (e.g., Siya) and age (e.g., 25). They then rate their level of sadness, euphoria, and exhaustion on scales from 0 to 10 (e.g., sadness: 3, euphoric: 5, exhausted: 4). Additionally, users indicate whether they have a sleep disorder and experience mood swings (Yes or No).</a:t>
            </a:r>
            <a:endParaRPr lang="en-US">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The right section of the app displays the model output, specifically the Mental Health Disorder Classifier, which predicts the probabilities of different mental health disorders based on the user's input. For example, the model might predict the following probabilities. Based on these predictions, the app provides suggestions, such as seeking professional help and maintaining a routine to manage mood swings. There is also an option to generate a PDF report of the predictions and suggestions.</a:t>
            </a:r>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blinds(horizontal)">
                                      <p:cBhvr>
                                        <p:cTn id="7" dur="500"/>
                                        <p:tgtEl>
                                          <p:spTgt spid="6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2" grpId="0"/>
      <p:bldP spid="62" grpId="1" animBg="1"/>
      <p:bldP spid="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sp>
        <p:nvSpPr>
          <p:cNvPr id="3" name="Text Box 2"/>
          <p:cNvSpPr txBox="1"/>
          <p:nvPr/>
        </p:nvSpPr>
        <p:spPr>
          <a:xfrm>
            <a:off x="2864485" y="163830"/>
            <a:ext cx="6096000" cy="645160"/>
          </a:xfrm>
          <a:prstGeom prst="rect">
            <a:avLst/>
          </a:prstGeom>
          <a:noFill/>
        </p:spPr>
        <p:txBody>
          <a:bodyPr wrap="square" rtlCol="0" anchor="t">
            <a:sp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rPr>
              <a:t>       Deployed Model </a:t>
            </a:r>
            <a:endPar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2" name="Text Box 1"/>
          <p:cNvSpPr txBox="1"/>
          <p:nvPr/>
        </p:nvSpPr>
        <p:spPr>
          <a:xfrm>
            <a:off x="432435" y="982345"/>
            <a:ext cx="11247755" cy="5741670"/>
          </a:xfrm>
          <a:prstGeom prst="rect">
            <a:avLst/>
          </a:prstGeom>
          <a:noFill/>
        </p:spPr>
        <p:txBody>
          <a:bodyPr wrap="square" rtlCol="0" anchor="t">
            <a:noAutofit/>
          </a:bodyPr>
          <a:p>
            <a:pPr algn="just"/>
            <a:endParaRPr lang="en-US">
              <a:latin typeface="Times New Roman" panose="02020603050405020304" pitchFamily="18" charset="0"/>
              <a:cs typeface="Times New Roman" panose="02020603050405020304" pitchFamily="18" charset="0"/>
            </a:endParaRPr>
          </a:p>
        </p:txBody>
      </p:sp>
      <p:pic>
        <p:nvPicPr>
          <p:cNvPr id="8" name="Picture 7" descr="Screenshot 2024-06-12 154136"/>
          <p:cNvPicPr>
            <a:picLocks noChangeAspect="1"/>
          </p:cNvPicPr>
          <p:nvPr/>
        </p:nvPicPr>
        <p:blipFill>
          <a:blip r:embed="rId3"/>
          <a:stretch>
            <a:fillRect/>
          </a:stretch>
        </p:blipFill>
        <p:spPr>
          <a:xfrm>
            <a:off x="681355" y="752475"/>
            <a:ext cx="5128260" cy="6072505"/>
          </a:xfrm>
          <a:prstGeom prst="rect">
            <a:avLst/>
          </a:prstGeom>
        </p:spPr>
      </p:pic>
      <p:pic>
        <p:nvPicPr>
          <p:cNvPr id="9" name="Picture 8" descr="Screenshot 2024-06-12 154147"/>
          <p:cNvPicPr>
            <a:picLocks noChangeAspect="1"/>
          </p:cNvPicPr>
          <p:nvPr/>
        </p:nvPicPr>
        <p:blipFill>
          <a:blip r:embed="rId4"/>
          <a:stretch>
            <a:fillRect/>
          </a:stretch>
        </p:blipFill>
        <p:spPr>
          <a:xfrm>
            <a:off x="6407150" y="752475"/>
            <a:ext cx="5338445" cy="59004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blinds(horizontal)">
                                      <p:cBhvr>
                                        <p:cTn id="7" dur="500"/>
                                        <p:tgtEl>
                                          <p:spTgt spid="6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2" grpId="0"/>
      <p:bldP spid="62" grpId="1" animBg="1"/>
      <p:bldP spid="2"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6" name="Picture 5"/>
          <p:cNvPicPr>
            <a:picLocks noChangeAspect="1"/>
          </p:cNvPicPr>
          <p:nvPr/>
        </p:nvPicPr>
        <p:blipFill>
          <a:blip r:embed="rId2"/>
          <a:stretch>
            <a:fillRect/>
          </a:stretch>
        </p:blipFill>
        <p:spPr>
          <a:xfrm>
            <a:off x="10009505" y="67945"/>
            <a:ext cx="1999615" cy="626110"/>
          </a:xfrm>
          <a:prstGeom prst="rect">
            <a:avLst/>
          </a:prstGeom>
        </p:spPr>
      </p:pic>
      <p:sp>
        <p:nvSpPr>
          <p:cNvPr id="3" name="Text Box 2"/>
          <p:cNvSpPr txBox="1"/>
          <p:nvPr/>
        </p:nvSpPr>
        <p:spPr>
          <a:xfrm>
            <a:off x="2864485" y="163830"/>
            <a:ext cx="6096000" cy="645160"/>
          </a:xfrm>
          <a:prstGeom prst="rect">
            <a:avLst/>
          </a:prstGeom>
          <a:noFill/>
        </p:spPr>
        <p:txBody>
          <a:bodyPr wrap="square" rtlCol="0" anchor="t">
            <a:spAutoFit/>
          </a:bodyPr>
          <a:p>
            <a:r>
              <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rPr>
              <a:t>           Future Scope</a:t>
            </a:r>
            <a:endParaRPr lang="en-IN" altLang="en-US" sz="360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2" name="Text Box 1"/>
          <p:cNvSpPr txBox="1"/>
          <p:nvPr/>
        </p:nvSpPr>
        <p:spPr>
          <a:xfrm>
            <a:off x="357505" y="1037590"/>
            <a:ext cx="11489690" cy="5799455"/>
          </a:xfrm>
          <a:prstGeom prst="rect">
            <a:avLst/>
          </a:prstGeom>
          <a:noFill/>
        </p:spPr>
        <p:txBody>
          <a:bodyPr wrap="square" rtlCol="0" anchor="t">
            <a:noAutofit/>
          </a:bodyPr>
          <a:p>
            <a:pPr marL="285750" indent="-285750" algn="just">
              <a:lnSpc>
                <a:spcPct val="100000"/>
              </a:lnSpc>
              <a:buFont typeface="Wingdings" panose="05000000000000000000" charset="0"/>
              <a:buChar char="Ø"/>
            </a:pPr>
            <a:r>
              <a:rPr lang="en-IN" altLang="en-US" u="sng">
                <a:solidFill>
                  <a:srgbClr val="FF0000"/>
                </a:solidFill>
                <a:latin typeface="Times New Roman" panose="02020603050405020304" pitchFamily="18" charset="0"/>
                <a:cs typeface="Times New Roman" panose="02020603050405020304" pitchFamily="18" charset="0"/>
              </a:rPr>
              <a:t>MRI Scans and Other Medical Imaging:</a:t>
            </a:r>
            <a:r>
              <a:rPr lang="en-IN" altLang="en-US">
                <a:latin typeface="Times New Roman" panose="02020603050405020304" pitchFamily="18" charset="0"/>
                <a:cs typeface="Times New Roman" panose="02020603050405020304" pitchFamily="18" charset="0"/>
              </a:rPr>
              <a:t> Integrate MRI scans, CT scans, and other medical imaging data to improve diagnosis accuracy.</a:t>
            </a:r>
            <a:endParaRPr lang="en-IN" altLang="en-US">
              <a:latin typeface="Times New Roman" panose="02020603050405020304" pitchFamily="18" charset="0"/>
              <a:cs typeface="Times New Roman" panose="02020603050405020304" pitchFamily="18" charset="0"/>
            </a:endParaRPr>
          </a:p>
          <a:p>
            <a:pPr indent="0" algn="just">
              <a:lnSpc>
                <a:spcPct val="70000"/>
              </a:lnSpc>
              <a:buFont typeface="Wingdings" panose="05000000000000000000" charset="0"/>
              <a:buNone/>
            </a:pPr>
            <a:endParaRPr lang="en-IN" altLang="en-US">
              <a:latin typeface="Times New Roman" panose="02020603050405020304" pitchFamily="18" charset="0"/>
              <a:cs typeface="Times New Roman" panose="02020603050405020304" pitchFamily="18" charset="0"/>
            </a:endParaRPr>
          </a:p>
          <a:p>
            <a:pPr marL="285750" indent="-285750" algn="just">
              <a:lnSpc>
                <a:spcPct val="110000"/>
              </a:lnSpc>
              <a:buFont typeface="Wingdings" panose="05000000000000000000" charset="0"/>
              <a:buChar char="Ø"/>
            </a:pPr>
            <a:r>
              <a:rPr lang="en-IN" altLang="en-US" u="sng">
                <a:solidFill>
                  <a:srgbClr val="FF0000"/>
                </a:solidFill>
                <a:latin typeface="Times New Roman" panose="02020603050405020304" pitchFamily="18" charset="0"/>
                <a:cs typeface="Times New Roman" panose="02020603050405020304" pitchFamily="18" charset="0"/>
              </a:rPr>
              <a:t>Wearable Device Data:</a:t>
            </a:r>
            <a:r>
              <a:rPr lang="en-IN" altLang="en-US">
                <a:latin typeface="Times New Roman" panose="02020603050405020304" pitchFamily="18" charset="0"/>
                <a:cs typeface="Times New Roman" panose="02020603050405020304" pitchFamily="18" charset="0"/>
              </a:rPr>
              <a:t> Utilize data from wearable devices (e.g., heart rate, sleep patterns) for continuous monitoring and early detection of mental health issues.</a:t>
            </a:r>
            <a:endParaRPr lang="en-IN" altLang="en-US">
              <a:latin typeface="Times New Roman" panose="02020603050405020304" pitchFamily="18" charset="0"/>
              <a:cs typeface="Times New Roman" panose="02020603050405020304" pitchFamily="18" charset="0"/>
            </a:endParaRPr>
          </a:p>
          <a:p>
            <a:pPr indent="0" algn="just">
              <a:lnSpc>
                <a:spcPct val="70000"/>
              </a:lnSpc>
              <a:buFont typeface="Wingdings" panose="05000000000000000000" charset="0"/>
              <a:buNone/>
            </a:pPr>
            <a:endParaRPr lang="en-IN" altLang="en-US">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charset="0"/>
              <a:buChar char="Ø"/>
            </a:pPr>
            <a:r>
              <a:rPr lang="en-IN" altLang="en-US" u="sng">
                <a:solidFill>
                  <a:srgbClr val="FF0000"/>
                </a:solidFill>
                <a:latin typeface="Times New Roman" panose="02020603050405020304" pitchFamily="18" charset="0"/>
                <a:cs typeface="Times New Roman" panose="02020603050405020304" pitchFamily="18" charset="0"/>
              </a:rPr>
              <a:t>Deep Learning Models:</a:t>
            </a:r>
            <a:r>
              <a:rPr lang="en-IN" altLang="en-US">
                <a:latin typeface="Times New Roman" panose="02020603050405020304" pitchFamily="18" charset="0"/>
                <a:cs typeface="Times New Roman" panose="02020603050405020304" pitchFamily="18" charset="0"/>
              </a:rPr>
              <a:t> Employ advanced deep learning models like Convolutional Neural Networks (CNNs) for image data and Recurrent Neural Networks (RNNs) or Transformers for sequential data.</a:t>
            </a:r>
            <a:endParaRPr lang="en-IN" altLang="en-US">
              <a:latin typeface="Times New Roman" panose="02020603050405020304" pitchFamily="18" charset="0"/>
              <a:cs typeface="Times New Roman" panose="02020603050405020304" pitchFamily="18" charset="0"/>
            </a:endParaRPr>
          </a:p>
          <a:p>
            <a:pPr indent="0" algn="just">
              <a:lnSpc>
                <a:spcPct val="70000"/>
              </a:lnSpc>
              <a:buFont typeface="Wingdings" panose="05000000000000000000" charset="0"/>
              <a:buNone/>
            </a:pPr>
            <a:endParaRPr lang="en-IN" altLang="en-US">
              <a:latin typeface="Times New Roman" panose="02020603050405020304" pitchFamily="18" charset="0"/>
              <a:cs typeface="Times New Roman" panose="02020603050405020304" pitchFamily="18" charset="0"/>
            </a:endParaRPr>
          </a:p>
          <a:p>
            <a:pPr indent="0" algn="just">
              <a:lnSpc>
                <a:spcPct val="30000"/>
              </a:lnSpc>
              <a:buFont typeface="Wingdings" panose="05000000000000000000" charset="0"/>
              <a:buNone/>
            </a:pPr>
            <a:endParaRPr lang="en-IN" altLang="en-US">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charset="0"/>
              <a:buChar char="Ø"/>
            </a:pPr>
            <a:r>
              <a:rPr lang="en-IN" altLang="en-US" u="sng">
                <a:solidFill>
                  <a:srgbClr val="FF0000"/>
                </a:solidFill>
                <a:latin typeface="Times New Roman" panose="02020603050405020304" pitchFamily="18" charset="0"/>
                <a:cs typeface="Times New Roman" panose="02020603050405020304" pitchFamily="18" charset="0"/>
              </a:rPr>
              <a:t>Personalized Dashboard:</a:t>
            </a:r>
            <a:r>
              <a:rPr lang="en-IN" altLang="en-US">
                <a:latin typeface="Times New Roman" panose="02020603050405020304" pitchFamily="18" charset="0"/>
                <a:cs typeface="Times New Roman" panose="02020603050405020304" pitchFamily="18" charset="0"/>
              </a:rPr>
              <a:t> Develop a personalized dashboard that tracks the user’s history, symptoms, and progress over time.</a:t>
            </a:r>
            <a:endParaRPr lang="en-IN" altLang="en-US">
              <a:latin typeface="Times New Roman" panose="02020603050405020304" pitchFamily="18" charset="0"/>
              <a:cs typeface="Times New Roman" panose="02020603050405020304" pitchFamily="18" charset="0"/>
            </a:endParaRPr>
          </a:p>
          <a:p>
            <a:pPr indent="0" algn="just">
              <a:lnSpc>
                <a:spcPct val="40000"/>
              </a:lnSpc>
              <a:buFont typeface="Wingdings" panose="05000000000000000000" charset="0"/>
              <a:buNone/>
            </a:pPr>
            <a:endParaRPr lang="en-IN" altLang="en-US">
              <a:latin typeface="Times New Roman" panose="02020603050405020304" pitchFamily="18" charset="0"/>
              <a:cs typeface="Times New Roman" panose="02020603050405020304" pitchFamily="18" charset="0"/>
            </a:endParaRPr>
          </a:p>
          <a:p>
            <a:pPr indent="0" algn="just">
              <a:lnSpc>
                <a:spcPct val="60000"/>
              </a:lnSpc>
              <a:buFont typeface="Wingdings" panose="05000000000000000000" charset="0"/>
              <a:buNone/>
            </a:pPr>
            <a:endParaRPr lang="en-IN" altLang="en-US">
              <a:latin typeface="Times New Roman" panose="02020603050405020304" pitchFamily="18" charset="0"/>
              <a:cs typeface="Times New Roman" panose="02020603050405020304" pitchFamily="18" charset="0"/>
            </a:endParaRPr>
          </a:p>
          <a:p>
            <a:pPr indent="0" algn="just">
              <a:lnSpc>
                <a:spcPct val="100000"/>
              </a:lnSpc>
              <a:buFont typeface="Wingdings" panose="05000000000000000000" charset="0"/>
              <a:buNone/>
            </a:pPr>
            <a:endParaRPr lang="en-IN" alt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blinds(horizontal)">
                                      <p:cBhvr>
                                        <p:cTn id="7" dur="500"/>
                                        <p:tgtEl>
                                          <p:spTgt spid="6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2" grpId="0"/>
      <p:bldP spid="62" grpId="1" animBg="1"/>
      <p:bldP spid="2"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8"/>
          <p:cNvSpPr txBox="1"/>
          <p:nvPr/>
        </p:nvSpPr>
        <p:spPr>
          <a:xfrm>
            <a:off x="345061" y="850086"/>
            <a:ext cx="11601037" cy="5742219"/>
          </a:xfrm>
          <a:prstGeom prst="rect">
            <a:avLst/>
          </a:prstGeom>
          <a:noFill/>
          <a:ln>
            <a:noFill/>
          </a:ln>
        </p:spPr>
        <p:txBody>
          <a:bodyPr spcFirstLastPara="1" wrap="square" lIns="0" tIns="7307" rIns="0" bIns="0" anchor="t" anchorCtr="0">
            <a:noAutofit/>
          </a:bodyPr>
          <a:lstStyle/>
          <a:p>
            <a:pPr marL="0" marR="0" algn="just">
              <a:lnSpc>
                <a:spcPct val="107000"/>
              </a:lnSpc>
              <a:spcBef>
                <a:spcPts val="0"/>
              </a:spcBef>
              <a:spcAft>
                <a:spcPts val="800"/>
              </a:spcAft>
            </a:pPr>
            <a:r>
              <a:rPr lang="en-GB" sz="1200" b="1">
                <a:effectLst/>
                <a:latin typeface="Times New Roman" panose="02020603050405020304" pitchFamily="18" charset="0"/>
                <a:ea typeface="Times New Roman" panose="02020603050405020304" pitchFamily="18" charset="0"/>
                <a:cs typeface="Times New Roman" panose="02020603050405020304" pitchFamily="18" charset="0"/>
              </a:rPr>
              <a:t>         Data Sets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Symbol" panose="05050102010706020507" pitchFamily="18" charset="2"/>
              <a:buChar char=""/>
            </a:pPr>
            <a:r>
              <a:rPr lang="en-IN" altLang="en-GB" sz="1200">
                <a:effectLst/>
                <a:latin typeface="Times New Roman" panose="02020603050405020304" pitchFamily="18" charset="0"/>
                <a:ea typeface="Times New Roman" panose="02020603050405020304" pitchFamily="18" charset="0"/>
                <a:cs typeface="Times New Roman" panose="02020603050405020304" pitchFamily="18" charset="0"/>
              </a:rPr>
              <a:t>Mental Health disease</a:t>
            </a:r>
            <a:r>
              <a:rPr lang="en-GB" sz="1200">
                <a:effectLst/>
                <a:latin typeface="Times New Roman" panose="02020603050405020304" pitchFamily="18" charset="0"/>
                <a:ea typeface="Times New Roman" panose="02020603050405020304" pitchFamily="18" charset="0"/>
                <a:cs typeface="Times New Roman" panose="02020603050405020304" pitchFamily="18" charset="0"/>
              </a:rPr>
              <a:t> Dataset with </a:t>
            </a:r>
            <a:r>
              <a:rPr lang="en-IN" altLang="en-GB" sz="1200">
                <a:effectLst/>
                <a:latin typeface="Times New Roman" panose="02020603050405020304" pitchFamily="18" charset="0"/>
                <a:ea typeface="Times New Roman" panose="02020603050405020304" pitchFamily="18" charset="0"/>
                <a:cs typeface="Times New Roman" panose="02020603050405020304" pitchFamily="18" charset="0"/>
              </a:rPr>
              <a:t>120 patients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GB" sz="120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altLang="en-GB" sz="1200">
                <a:effectLst/>
                <a:latin typeface="Times New Roman" panose="02020603050405020304" pitchFamily="18" charset="0"/>
                <a:ea typeface="Times New Roman" panose="02020603050405020304" pitchFamily="18" charset="0"/>
                <a:cs typeface="Times New Roman" panose="02020603050405020304" pitchFamily="18" charset="0"/>
              </a:rPr>
              <a:t>    https://www.kaggle.com/code/ibrahimelgmmal/mental-disorder-predictor/input</a:t>
            </a:r>
            <a:endParaRPr lang="en-IN" altLang="en-GB" sz="120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07000"/>
              </a:lnSpc>
              <a:spcBef>
                <a:spcPts val="0"/>
              </a:spcBef>
              <a:spcAft>
                <a:spcPts val="800"/>
              </a:spcAft>
            </a:pP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GB" sz="1200" b="1">
                <a:effectLst/>
                <a:latin typeface="Times New Roman" panose="02020603050405020304" pitchFamily="18" charset="0"/>
                <a:ea typeface="Times New Roman" panose="02020603050405020304" pitchFamily="18" charset="0"/>
                <a:cs typeface="Times New Roman" panose="02020603050405020304" pitchFamily="18" charset="0"/>
              </a:rPr>
              <a:t>        References</a:t>
            </a:r>
            <a:r>
              <a:rPr lang="en-IN" altLang="en-GB" sz="1200" b="1">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GB" sz="1200" b="1">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07000"/>
              </a:lnSpc>
              <a:spcBef>
                <a:spcPts val="0"/>
              </a:spcBef>
              <a:spcAft>
                <a:spcPts val="800"/>
              </a:spcAft>
            </a:pPr>
            <a:r>
              <a:rPr lang="en-GB" sz="12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p>
            <a:pPr marL="179070" indent="-171450">
              <a:lnSpc>
                <a:spcPct val="101000"/>
              </a:lnSpc>
              <a:spcBef>
                <a:spcPts val="60"/>
              </a:spcBef>
              <a:buFont typeface="Wingdings" panose="05000000000000000000" charset="0"/>
              <a:buChar char="q"/>
            </a:pPr>
            <a:r>
              <a:rPr lang="en-IN" sz="1200">
                <a:solidFill>
                  <a:schemeClr val="tx1"/>
                </a:solidFill>
                <a:latin typeface="Times New Roman" panose="02020603050405020304" pitchFamily="18" charset="0"/>
                <a:ea typeface="Helvetica Neue"/>
                <a:cs typeface="Times New Roman" panose="02020603050405020304" pitchFamily="18" charset="0"/>
                <a:sym typeface="Helvetica Neue"/>
              </a:rPr>
              <a:t> </a:t>
            </a:r>
            <a:r>
              <a:rPr sz="1200">
                <a:solidFill>
                  <a:schemeClr val="tx1"/>
                </a:solidFill>
                <a:latin typeface="Times New Roman" panose="02020603050405020304" pitchFamily="18" charset="0"/>
                <a:ea typeface="Helvetica Neue"/>
                <a:cs typeface="Times New Roman" panose="02020603050405020304" pitchFamily="18" charset="0"/>
                <a:sym typeface="Helvetica Neue"/>
              </a:rPr>
              <a:t>Clark, Lee Anna et al. “Three Approaches to Understanding and Classifying Mental Disorder: ICD-11, DSM-5, and the National Institute of Mental Health’s Research Domain Criteria (RDoC).” Psychological Science in the Public Interest 18 (2017): 145 - 72.</a:t>
            </a: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r>
              <a:rPr lang="en-IN" sz="1200">
                <a:solidFill>
                  <a:schemeClr val="tx1"/>
                </a:solidFill>
                <a:latin typeface="Times New Roman" panose="02020603050405020304" pitchFamily="18" charset="0"/>
                <a:ea typeface="Helvetica Neue"/>
                <a:cs typeface="Times New Roman" panose="02020603050405020304" pitchFamily="18" charset="0"/>
                <a:sym typeface="Helvetica Neue"/>
              </a:rPr>
              <a:t>  </a:t>
            </a:r>
            <a:r>
              <a:rPr sz="1200">
                <a:solidFill>
                  <a:schemeClr val="tx1"/>
                </a:solidFill>
                <a:latin typeface="Times New Roman" panose="02020603050405020304" pitchFamily="18" charset="0"/>
                <a:ea typeface="Helvetica Neue"/>
                <a:cs typeface="Times New Roman" panose="02020603050405020304" pitchFamily="18" charset="0"/>
                <a:sym typeface="Helvetica Neue"/>
              </a:rPr>
              <a:t>Wolman, Benjamin B.. “Classification and Diagnosis of Mental Disorders.” (1978).</a:t>
            </a: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r>
              <a:rPr lang="en-IN" sz="1200">
                <a:solidFill>
                  <a:schemeClr val="tx1"/>
                </a:solidFill>
                <a:latin typeface="Times New Roman" panose="02020603050405020304" pitchFamily="18" charset="0"/>
                <a:ea typeface="Helvetica Neue"/>
                <a:cs typeface="Times New Roman" panose="02020603050405020304" pitchFamily="18" charset="0"/>
                <a:sym typeface="Helvetica Neue"/>
              </a:rPr>
              <a:t>  </a:t>
            </a:r>
            <a:r>
              <a:rPr sz="1200">
                <a:solidFill>
                  <a:schemeClr val="tx1"/>
                </a:solidFill>
                <a:latin typeface="Times New Roman" panose="02020603050405020304" pitchFamily="18" charset="0"/>
                <a:ea typeface="Helvetica Neue"/>
                <a:cs typeface="Times New Roman" panose="02020603050405020304" pitchFamily="18" charset="0"/>
                <a:sym typeface="Helvetica Neue"/>
              </a:rPr>
              <a:t>Essen-Möller, E. “ON CLASSIFICATION OF MENTAL DISORDERS.” Acta Psychiatrica Scandinavica 37 (1961): n. pag.</a:t>
            </a: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r>
              <a:rPr lang="en-IN" sz="1200">
                <a:solidFill>
                  <a:schemeClr val="tx1"/>
                </a:solidFill>
                <a:latin typeface="Times New Roman" panose="02020603050405020304" pitchFamily="18" charset="0"/>
                <a:ea typeface="Helvetica Neue"/>
                <a:cs typeface="Times New Roman" panose="02020603050405020304" pitchFamily="18" charset="0"/>
                <a:sym typeface="Helvetica Neue"/>
              </a:rPr>
              <a:t>   </a:t>
            </a:r>
            <a:r>
              <a:rPr sz="1200">
                <a:solidFill>
                  <a:schemeClr val="tx1"/>
                </a:solidFill>
                <a:latin typeface="Times New Roman" panose="02020603050405020304" pitchFamily="18" charset="0"/>
                <a:ea typeface="Helvetica Neue"/>
                <a:cs typeface="Times New Roman" panose="02020603050405020304" pitchFamily="18" charset="0"/>
                <a:sym typeface="Helvetica Neue"/>
              </a:rPr>
              <a:t>Clark, Lee Anna et al. “Three Approaches to Understanding and Classifying Mental Disorder: ICD-11, DSM-5, and the National Institute of Mental Health’s Research Domain Criteria (RDoC).” Psychological Science in the Public Interest 18 (2017): 145 - 72.</a:t>
            </a: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r>
              <a:rPr lang="en-IN" sz="1200">
                <a:solidFill>
                  <a:schemeClr val="tx1"/>
                </a:solidFill>
                <a:latin typeface="Times New Roman" panose="02020603050405020304" pitchFamily="18" charset="0"/>
                <a:ea typeface="Helvetica Neue"/>
                <a:cs typeface="Times New Roman" panose="02020603050405020304" pitchFamily="18" charset="0"/>
                <a:sym typeface="Helvetica Neue"/>
              </a:rPr>
              <a:t>   </a:t>
            </a:r>
            <a:r>
              <a:rPr sz="1200">
                <a:solidFill>
                  <a:schemeClr val="tx1"/>
                </a:solidFill>
                <a:latin typeface="Times New Roman" panose="02020603050405020304" pitchFamily="18" charset="0"/>
                <a:ea typeface="Helvetica Neue"/>
                <a:cs typeface="Times New Roman" panose="02020603050405020304" pitchFamily="18" charset="0"/>
                <a:sym typeface="Helvetica Neue"/>
              </a:rPr>
              <a:t>Andrews, Gavin et al. “Classification of Anxiety and Depressive disorders: problems and solutions.” Depression and Anxiety 25 (2008): n. pag.</a:t>
            </a: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r>
              <a:rPr lang="en-IN" sz="1200">
                <a:solidFill>
                  <a:schemeClr val="tx1"/>
                </a:solidFill>
                <a:latin typeface="Times New Roman" panose="02020603050405020304" pitchFamily="18" charset="0"/>
                <a:ea typeface="Helvetica Neue"/>
                <a:cs typeface="Times New Roman" panose="02020603050405020304" pitchFamily="18" charset="0"/>
                <a:sym typeface="Helvetica Neue"/>
              </a:rPr>
              <a:t>  </a:t>
            </a:r>
            <a:r>
              <a:rPr sz="1200">
                <a:solidFill>
                  <a:schemeClr val="tx1"/>
                </a:solidFill>
                <a:latin typeface="Times New Roman" panose="02020603050405020304" pitchFamily="18" charset="0"/>
                <a:ea typeface="Helvetica Neue"/>
                <a:cs typeface="Times New Roman" panose="02020603050405020304" pitchFamily="18" charset="0"/>
                <a:sym typeface="Helvetica Neue"/>
              </a:rPr>
              <a:t>Lecrubier, Yves. “Refinement of diagnosis and disease classification in psychiatry.” European Archives of Psychiatry and Clinical Neuroscience 258 (2008): 6-11.</a:t>
            </a: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a:p>
            <a:pPr marL="179070" indent="-171450">
              <a:lnSpc>
                <a:spcPct val="101000"/>
              </a:lnSpc>
              <a:spcBef>
                <a:spcPts val="60"/>
              </a:spcBef>
              <a:buFont typeface="Wingdings" panose="05000000000000000000" charset="0"/>
              <a:buChar char="q"/>
            </a:pPr>
            <a:endParaRPr sz="1200">
              <a:solidFill>
                <a:schemeClr val="tx1"/>
              </a:solidFill>
              <a:latin typeface="Times New Roman" panose="02020603050405020304" pitchFamily="18" charset="0"/>
              <a:ea typeface="Helvetica Neue"/>
              <a:cs typeface="Times New Roman" panose="02020603050405020304" pitchFamily="18" charset="0"/>
              <a:sym typeface="Helvetica Neue"/>
            </a:endParaRPr>
          </a:p>
        </p:txBody>
      </p:sp>
      <p:sp>
        <p:nvSpPr>
          <p:cNvPr id="62" name="Google Shape;62;p8"/>
          <p:cNvSpPr/>
          <p:nvPr/>
        </p:nvSpPr>
        <p:spPr>
          <a:xfrm>
            <a:off x="611718" y="722959"/>
            <a:ext cx="11235221" cy="0"/>
          </a:xfrm>
          <a:custGeom>
            <a:avLst/>
            <a:gdLst/>
            <a:ahLst/>
            <a:cxnLst/>
            <a:rect l="l" t="t" r="r" b="b"/>
            <a:pathLst>
              <a:path w="18527395" h="120000" extrusionOk="0">
                <a:moveTo>
                  <a:pt x="0" y="0"/>
                </a:moveTo>
                <a:lnTo>
                  <a:pt x="18526859" y="0"/>
                </a:lnTo>
              </a:path>
            </a:pathLst>
          </a:custGeom>
          <a:noFill/>
          <a:ln w="15700" cap="flat" cmpd="sng">
            <a:solidFill>
              <a:srgbClr val="5E6DB3"/>
            </a:solidFill>
            <a:prstDash val="solid"/>
            <a:round/>
            <a:headEnd type="none" w="med" len="med"/>
            <a:tailEnd type="none" w="med" len="med"/>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4" name="Google Shape;64;p8"/>
          <p:cNvSpPr/>
          <p:nvPr/>
        </p:nvSpPr>
        <p:spPr>
          <a:xfrm>
            <a:off x="1809269" y="432235"/>
            <a:ext cx="34656" cy="34656"/>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5" name="Google Shape;65;p8"/>
          <p:cNvSpPr/>
          <p:nvPr/>
        </p:nvSpPr>
        <p:spPr>
          <a:xfrm>
            <a:off x="1818895" y="439937"/>
            <a:ext cx="15403" cy="19253"/>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endParaRPr sz="109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8"/>
          <p:cNvSpPr txBox="1"/>
          <p:nvPr/>
        </p:nvSpPr>
        <p:spPr>
          <a:xfrm>
            <a:off x="1105563" y="265695"/>
            <a:ext cx="831739" cy="298425"/>
          </a:xfrm>
          <a:prstGeom prst="rect">
            <a:avLst/>
          </a:prstGeom>
          <a:noFill/>
          <a:ln>
            <a:noFill/>
          </a:ln>
        </p:spPr>
        <p:txBody>
          <a:bodyPr spcFirstLastPara="1" wrap="square" lIns="0" tIns="10385" rIns="0" bIns="0" anchor="t" anchorCtr="0">
            <a:noAutofit/>
          </a:bodyPr>
          <a:lstStyle/>
          <a:p>
            <a:pPr marL="7620">
              <a:lnSpc>
                <a:spcPct val="112000"/>
              </a:lnSpc>
            </a:pPr>
            <a:r>
              <a:rPr lang="en-US" sz="970" b="1">
                <a:solidFill>
                  <a:srgbClr val="231F20"/>
                </a:solidFill>
                <a:latin typeface="Helvetica Neue"/>
                <a:ea typeface="Helvetica Neue"/>
                <a:cs typeface="Helvetica Neue"/>
                <a:sym typeface="Helvetica Neue"/>
              </a:rPr>
              <a:t> </a:t>
            </a:r>
            <a:endParaRPr sz="970" b="1">
              <a:solidFill>
                <a:schemeClr val="dk1"/>
              </a:solidFill>
              <a:latin typeface="Helvetica Neue"/>
              <a:ea typeface="Helvetica Neue"/>
              <a:cs typeface="Helvetica Neue"/>
              <a:sym typeface="Helvetica Neue"/>
            </a:endParaRPr>
          </a:p>
        </p:txBody>
      </p:sp>
      <p:sp>
        <p:nvSpPr>
          <p:cNvPr id="67" name="Google Shape;67;p8"/>
          <p:cNvSpPr txBox="1"/>
          <p:nvPr/>
        </p:nvSpPr>
        <p:spPr>
          <a:xfrm>
            <a:off x="2068497" y="127139"/>
            <a:ext cx="6690226" cy="595820"/>
          </a:xfrm>
          <a:prstGeom prst="rect">
            <a:avLst/>
          </a:prstGeom>
          <a:noFill/>
          <a:ln>
            <a:noFill/>
          </a:ln>
        </p:spPr>
        <p:txBody>
          <a:bodyPr spcFirstLastPara="1" wrap="square" lIns="0" tIns="7307" rIns="0" bIns="0" anchor="t" anchorCtr="0">
            <a:noAutofit/>
          </a:bodyPr>
          <a:lstStyle/>
          <a:p>
            <a:pPr marL="7620" algn="ctr"/>
            <a:r>
              <a:rPr lang="en-US" sz="3600">
                <a:solidFill>
                  <a:schemeClr val="accent1">
                    <a:lumMod val="75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rPr>
              <a:t>BIBLIOGRAPHY</a:t>
            </a:r>
            <a:endParaRPr sz="3600">
              <a:solidFill>
                <a:schemeClr val="accent1">
                  <a:lumMod val="75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8" name="Google Shape;68;p8"/>
          <p:cNvSpPr txBox="1">
            <a:spLocks noGrp="1"/>
          </p:cNvSpPr>
          <p:nvPr>
            <p:ph type="title"/>
          </p:nvPr>
        </p:nvSpPr>
        <p:spPr>
          <a:xfrm>
            <a:off x="9128395" y="249009"/>
            <a:ext cx="2718544" cy="183217"/>
          </a:xfrm>
          <a:prstGeom prst="rect">
            <a:avLst/>
          </a:prstGeom>
          <a:noFill/>
          <a:ln>
            <a:noFill/>
          </a:ln>
        </p:spPr>
        <p:txBody>
          <a:bodyPr spcFirstLastPara="1" vert="horz" wrap="square" lIns="0" tIns="0" rIns="0" bIns="0" rtlCol="0" anchor="t" anchorCtr="0">
            <a:noAutofit/>
          </a:bodyPr>
          <a:lstStyle/>
          <a:p>
            <a:pPr algn="r"/>
            <a:r>
              <a:rPr lang="en-US"/>
              <a:t>FUTURE BEGINS HERE</a:t>
            </a:r>
            <a:endParaRPr lang="en-US"/>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084" y="67907"/>
            <a:ext cx="1431741" cy="504927"/>
          </a:xfrm>
          <a:prstGeom prst="rect">
            <a:avLst/>
          </a:prstGeom>
        </p:spPr>
      </p:pic>
      <mc:AlternateContent xmlns:mc="http://schemas.openxmlformats.org/markup-compatibility/2006" xmlns:p14="http://schemas.microsoft.com/office/powerpoint/2010/main">
        <mc:Choice Requires="p14">
          <p:contentPart r:id="rId2" p14:bwMode="auto">
            <p14:nvContentPartPr>
              <p14:cNvPr id="17" name="Ink 16"/>
              <p14:cNvContentPartPr/>
              <p14:nvPr/>
            </p14:nvContentPartPr>
            <p14:xfrm>
              <a:off x="3106713" y="1357833"/>
              <a:ext cx="360" cy="360"/>
            </p14:xfrm>
          </p:contentPart>
        </mc:Choice>
        <mc:Fallback xmlns="">
          <p:pic>
            <p:nvPicPr>
              <p:cNvPr id="17" name="Ink 16"/>
            </p:nvPicPr>
            <p:blipFill>
              <a:blip r:embed="rId3"/>
            </p:blipFill>
            <p:spPr>
              <a:xfrm>
                <a:off x="3106713" y="1357833"/>
                <a:ext cx="360" cy="3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7"/>
          <p:cNvSpPr/>
          <p:nvPr/>
        </p:nvSpPr>
        <p:spPr>
          <a:xfrm>
            <a:off x="-18373" y="-31372"/>
            <a:ext cx="12191145" cy="6858000"/>
          </a:xfrm>
          <a:prstGeom prst="rect">
            <a:avLst/>
          </a:prstGeom>
          <a:solidFill>
            <a:schemeClr val="lt1">
              <a:alpha val="98823"/>
            </a:schemeClr>
          </a:solidFill>
          <a:ln w="76200" cap="flat" cmpd="sng">
            <a:solidFill>
              <a:schemeClr val="accent1">
                <a:lumMod val="40000"/>
                <a:lumOff val="60000"/>
              </a:schemeClr>
            </a:solidFill>
            <a:prstDash val="solid"/>
            <a:round/>
            <a:headEnd type="none" w="sm" len="sm"/>
            <a:tailEnd type="none" w="sm" len="sm"/>
          </a:ln>
        </p:spPr>
        <p:txBody>
          <a:bodyPr spcFirstLastPara="1" wrap="square" lIns="55440" tIns="27713" rIns="55440" bIns="27713" anchor="ctr" anchorCtr="0">
            <a:noAutofit/>
          </a:bodyPr>
          <a:lstStyle/>
          <a:p>
            <a:pPr algn="ctr"/>
            <a:endParaRPr sz="1090" dirty="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50" name="Google Shape;50;p7"/>
          <p:cNvSpPr txBox="1"/>
          <p:nvPr/>
        </p:nvSpPr>
        <p:spPr>
          <a:xfrm>
            <a:off x="903379" y="2669117"/>
            <a:ext cx="10002111" cy="1520809"/>
          </a:xfrm>
          <a:prstGeom prst="rect">
            <a:avLst/>
          </a:prstGeom>
          <a:noFill/>
          <a:ln>
            <a:noFill/>
          </a:ln>
        </p:spPr>
        <p:txBody>
          <a:bodyPr spcFirstLastPara="1" wrap="square" lIns="0" tIns="6928" rIns="0" bIns="0" anchor="t" anchorCtr="0">
            <a:noAutofit/>
          </a:bodyPr>
          <a:lstStyle/>
          <a:p>
            <a:pPr marL="7620" algn="ctr"/>
            <a:r>
              <a:rPr lang="en-US" sz="4400" dirty="0">
                <a:ln>
                  <a:solidFill>
                    <a:schemeClr val="tx1"/>
                  </a:solidFill>
                  <a:prstDash val="sysDash"/>
                </a:ln>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rPr>
              <a:t>   </a:t>
            </a:r>
            <a:r>
              <a:rPr lang="en-IN" altLang="en-US" sz="5400" b="1" i="1" dirty="0">
                <a:ln>
                  <a:solidFill>
                    <a:schemeClr val="tx1"/>
                  </a:solidFill>
                  <a:prstDash val="sysDash"/>
                </a:ln>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rPr>
              <a:t>THANK YOU</a:t>
            </a:r>
            <a:endParaRPr lang="en-US" sz="4400" dirty="0">
              <a:solidFill>
                <a:schemeClr val="accent1">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endParaRPr>
          </a:p>
          <a:p>
            <a:pPr marL="7620" algn="ctr"/>
            <a:endParaRPr lang="en-US" sz="4400" dirty="0">
              <a:solidFill>
                <a:srgbClr val="005893"/>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endParaRPr>
          </a:p>
          <a:p>
            <a:pPr marL="7620" algn="ctr"/>
            <a:r>
              <a:rPr lang="en-US" sz="4400" dirty="0">
                <a:solidFill>
                  <a:srgbClr val="005893"/>
                </a:solidFill>
                <a:latin typeface="Microsoft Sans Serif" panose="020B0604020202020204" pitchFamily="34" charset="0"/>
                <a:ea typeface="Microsoft Sans Serif" panose="020B0604020202020204" pitchFamily="34" charset="0"/>
                <a:cs typeface="Microsoft Sans Serif" panose="020B0604020202020204" pitchFamily="34" charset="0"/>
                <a:sym typeface="Playfair Display"/>
              </a:rPr>
              <a:t>  </a:t>
            </a:r>
            <a:endParaRPr lang="en-US" sz="4400" dirty="0">
              <a:solidFill>
                <a:srgbClr val="FF0000"/>
              </a:solidFill>
            </a:endParaRPr>
          </a:p>
          <a:p>
            <a:pPr marL="7620" algn="ctr">
              <a:spcBef>
                <a:spcPts val="55"/>
              </a:spcBef>
            </a:pPr>
            <a:endParaRPr lang="en-US" sz="4400" dirty="0"/>
          </a:p>
        </p:txBody>
      </p:sp>
      <p:sp>
        <p:nvSpPr>
          <p:cNvPr id="51" name="Google Shape;51;p7"/>
          <p:cNvSpPr/>
          <p:nvPr/>
        </p:nvSpPr>
        <p:spPr>
          <a:xfrm>
            <a:off x="19228" y="-13104"/>
            <a:ext cx="5296784" cy="4431588"/>
          </a:xfrm>
          <a:custGeom>
            <a:avLst/>
            <a:gdLst/>
            <a:ahLst/>
            <a:cxnLst/>
            <a:rect l="l" t="t" r="r" b="b"/>
            <a:pathLst>
              <a:path w="7436484" h="5134610" extrusionOk="0">
                <a:moveTo>
                  <a:pt x="7435941" y="0"/>
                </a:moveTo>
                <a:lnTo>
                  <a:pt x="0" y="0"/>
                </a:lnTo>
                <a:lnTo>
                  <a:pt x="0" y="5134513"/>
                </a:lnTo>
                <a:lnTo>
                  <a:pt x="7435941" y="0"/>
                </a:lnTo>
                <a:close/>
              </a:path>
            </a:pathLst>
          </a:custGeom>
          <a:solidFill>
            <a:schemeClr val="accent1">
              <a:lumMod val="40000"/>
              <a:lumOff val="60000"/>
            </a:schemeClr>
          </a:solidFill>
          <a:ln>
            <a:solidFill>
              <a:schemeClr val="accent1"/>
            </a:solidFill>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3" name="Google Shape;53;p7"/>
          <p:cNvSpPr/>
          <p:nvPr/>
        </p:nvSpPr>
        <p:spPr>
          <a:xfrm>
            <a:off x="3398623" y="810561"/>
            <a:ext cx="88565" cy="89528"/>
          </a:xfrm>
          <a:prstGeom prst="rect">
            <a:avLst/>
          </a:prstGeom>
          <a:blipFill rotWithShape="1">
            <a:blip r:embed="rId1"/>
            <a:stretch>
              <a:fillRect/>
            </a:stretch>
          </a:blipFill>
          <a:ln>
            <a:noFill/>
          </a:ln>
        </p:spPr>
        <p:txBody>
          <a:bodyPr spcFirstLastPara="1" wrap="square" lIns="0" tIns="0" rIns="0" bIns="0" anchor="t" anchorCtr="0">
            <a:noAutofit/>
          </a:bodyPr>
          <a:lstStyle/>
          <a:p>
            <a:endParaRPr sz="109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5" name="Google Shape;55;p7"/>
          <p:cNvSpPr txBox="1"/>
          <p:nvPr/>
        </p:nvSpPr>
        <p:spPr>
          <a:xfrm>
            <a:off x="9144000" y="247405"/>
            <a:ext cx="2695238" cy="293611"/>
          </a:xfrm>
          <a:prstGeom prst="rect">
            <a:avLst/>
          </a:prstGeom>
          <a:noFill/>
          <a:ln>
            <a:noFill/>
          </a:ln>
        </p:spPr>
        <p:txBody>
          <a:bodyPr spcFirstLastPara="1" wrap="square" lIns="0" tIns="7701" rIns="0" bIns="0" anchor="t" anchorCtr="0">
            <a:noAutofit/>
          </a:bodyPr>
          <a:lstStyle/>
          <a:p>
            <a:pPr marL="7620"/>
            <a:r>
              <a:rPr lang="en-US" sz="1820" i="1" dirty="0">
                <a:solidFill>
                  <a:srgbClr val="422C75"/>
                </a:solidFill>
                <a:latin typeface="Playfair Display"/>
                <a:ea typeface="Playfair Display"/>
                <a:cs typeface="Playfair Display"/>
                <a:sym typeface="Playfair Display"/>
              </a:rPr>
              <a:t>FUTURE BEGINS HERE</a:t>
            </a:r>
            <a:endParaRPr sz="1820" dirty="0">
              <a:solidFill>
                <a:schemeClr val="dk1"/>
              </a:solidFill>
              <a:latin typeface="Playfair Display"/>
              <a:ea typeface="Playfair Display"/>
              <a:cs typeface="Playfair Display"/>
              <a:sym typeface="Playfair Display"/>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30" y="49128"/>
            <a:ext cx="3212242" cy="113285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13495</Words>
  <Application>WPS Presentation</Application>
  <PresentationFormat>Widescreen</PresentationFormat>
  <Paragraphs>290</Paragraphs>
  <Slides>24</Slides>
  <Notes>14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24</vt:i4>
      </vt:variant>
    </vt:vector>
  </HeadingPairs>
  <TitlesOfParts>
    <vt:vector size="40" baseType="lpstr">
      <vt:lpstr>Arial</vt:lpstr>
      <vt:lpstr>SimSun</vt:lpstr>
      <vt:lpstr>Wingdings</vt:lpstr>
      <vt:lpstr>Calibri</vt:lpstr>
      <vt:lpstr>Playfair Display</vt:lpstr>
      <vt:lpstr>Segoe Print</vt:lpstr>
      <vt:lpstr>Microsoft Sans Serif</vt:lpstr>
      <vt:lpstr>Times New Roman</vt:lpstr>
      <vt:lpstr>Wingdings</vt:lpstr>
      <vt:lpstr>Helvetica Neue</vt:lpstr>
      <vt:lpstr>Microsoft YaHei</vt:lpstr>
      <vt:lpstr>Arial Unicode MS</vt:lpstr>
      <vt:lpstr>Calibri</vt:lpstr>
      <vt:lpstr>Symbol</vt:lpstr>
      <vt:lpstr>Calibri Light</vt:lpstr>
      <vt:lpstr>Office Theme</vt:lpstr>
      <vt:lpstr>PowerPoint 演示文稿</vt:lpstr>
      <vt:lpstr>FUTURE BEGINS HERE</vt:lpstr>
      <vt:lpstr>FUTURE BEGINS HERE</vt:lpstr>
      <vt:lpstr>FUTURE BEGINS HERE</vt:lpstr>
      <vt:lpstr>FUTURE BEGINS HERE</vt:lpstr>
      <vt:lpstr>FUTURE BEGINS HERE</vt:lpstr>
      <vt:lpstr>FUTURE BEGINS HERE</vt:lpstr>
      <vt:lpstr>FUTURE BEGINS HERE</vt:lpstr>
      <vt:lpstr>FUTURE BEGINS HERE</vt:lpstr>
      <vt:lpstr>FUTURE BEGINS HERE</vt:lpstr>
      <vt:lpstr>FUTURE BEGINS HERE</vt:lpstr>
      <vt:lpstr>FUTURE BEGINS HERE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FUTURE BEGINS HERE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 VERMA</dc:creator>
  <cp:lastModifiedBy>radhi</cp:lastModifiedBy>
  <cp:revision>87</cp:revision>
  <dcterms:created xsi:type="dcterms:W3CDTF">2022-03-23T16:33:00Z</dcterms:created>
  <dcterms:modified xsi:type="dcterms:W3CDTF">2024-06-14T08:28:09Z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338E536C012346A1B54CE57C107066DF_12</vt:lpwstr>
  </property>
  <property fmtid="{D5CDD505-2E9C-101B-9397-08002B2CF9AE}" pid="3" name="KSOProductBuildVer">
    <vt:lpwstr>1033-12.2.0.17119</vt:lpwstr>
  </property>
</Properties>
</file>